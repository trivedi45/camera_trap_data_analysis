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256" r:id="rId3"/>
    <p:sldId id="257" r:id="rId4"/>
    <p:sldId id="259" r:id="rId5"/>
    <p:sldId id="261" r:id="rId6"/>
    <p:sldId id="263" r:id="rId7"/>
    <p:sldId id="264" r:id="rId8"/>
    <p:sldId id="265" r:id="rId9"/>
    <p:sldId id="266" r:id="rId10"/>
    <p:sldId id="285" r:id="rId11"/>
    <p:sldId id="267" r:id="rId12"/>
    <p:sldId id="268" r:id="rId13"/>
    <p:sldId id="281" r:id="rId14"/>
    <p:sldId id="280" r:id="rId15"/>
    <p:sldId id="269" r:id="rId16"/>
    <p:sldId id="270" r:id="rId17"/>
    <p:sldId id="271" r:id="rId18"/>
    <p:sldId id="272" r:id="rId19"/>
    <p:sldId id="273" r:id="rId20"/>
    <p:sldId id="282" r:id="rId21"/>
    <p:sldId id="274" r:id="rId22"/>
    <p:sldId id="275" r:id="rId23"/>
    <p:sldId id="276" r:id="rId24"/>
    <p:sldId id="277" r:id="rId25"/>
    <p:sldId id="286" r:id="rId26"/>
    <p:sldId id="278" r:id="rId27"/>
    <p:sldId id="283" r:id="rId28"/>
    <p:sldId id="287" r:id="rId29"/>
    <p:sldId id="284" r:id="rId30"/>
    <p:sldId id="27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B026F-E486-4682-9F85-665BC81D83A7}" v="17" dt="2026-08-25T00:15:19.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vedi Harit" userId="27e5598c8a48512c" providerId="LiveId" clId="{774AB64A-BD6C-47FE-B7D0-2AAA069DDE72}"/>
    <pc:docChg chg="custSel addSld modSld">
      <pc:chgData name="Trivedi Harit" userId="27e5598c8a48512c" providerId="LiveId" clId="{774AB64A-BD6C-47FE-B7D0-2AAA069DDE72}" dt="2026-08-25T00:15:34.817" v="814" actId="20577"/>
      <pc:docMkLst>
        <pc:docMk/>
      </pc:docMkLst>
      <pc:sldChg chg="addSp delSp modSp mod setBg modClrScheme chgLayout">
        <pc:chgData name="Trivedi Harit" userId="27e5598c8a48512c" providerId="LiveId" clId="{774AB64A-BD6C-47FE-B7D0-2AAA069DDE72}" dt="2026-08-25T00:14:49.165" v="786" actId="27636"/>
        <pc:sldMkLst>
          <pc:docMk/>
          <pc:sldMk cId="2741990910" sldId="257"/>
        </pc:sldMkLst>
        <pc:spChg chg="add del mod">
          <ac:chgData name="Trivedi Harit" userId="27e5598c8a48512c" providerId="LiveId" clId="{774AB64A-BD6C-47FE-B7D0-2AAA069DDE72}" dt="2026-08-24T23:58:47.808" v="1" actId="478"/>
          <ac:spMkLst>
            <pc:docMk/>
            <pc:sldMk cId="2741990910" sldId="257"/>
            <ac:spMk id="2" creationId="{BDC414EE-7DA3-F02E-76EB-60407974C784}"/>
          </ac:spMkLst>
        </pc:spChg>
        <pc:spChg chg="add mod">
          <ac:chgData name="Trivedi Harit" userId="27e5598c8a48512c" providerId="LiveId" clId="{774AB64A-BD6C-47FE-B7D0-2AAA069DDE72}" dt="2026-08-25T00:03:40.508" v="52" actId="20577"/>
          <ac:spMkLst>
            <pc:docMk/>
            <pc:sldMk cId="2741990910" sldId="257"/>
            <ac:spMk id="3" creationId="{FA3E6BD9-CB98-90A6-7CCC-6A6B30CD2B4D}"/>
          </ac:spMkLst>
        </pc:spChg>
        <pc:spChg chg="add mod">
          <ac:chgData name="Trivedi Harit" userId="27e5598c8a48512c" providerId="LiveId" clId="{774AB64A-BD6C-47FE-B7D0-2AAA069DDE72}" dt="2026-08-25T00:14:49.165" v="786" actId="27636"/>
          <ac:spMkLst>
            <pc:docMk/>
            <pc:sldMk cId="2741990910" sldId="257"/>
            <ac:spMk id="4" creationId="{34E2EDFF-7DE8-645A-A07A-008BF391236B}"/>
          </ac:spMkLst>
        </pc:spChg>
      </pc:sldChg>
      <pc:sldChg chg="modSp new mod setBg">
        <pc:chgData name="Trivedi Harit" userId="27e5598c8a48512c" providerId="LiveId" clId="{774AB64A-BD6C-47FE-B7D0-2AAA069DDE72}" dt="2026-08-25T00:15:34.817" v="814" actId="20577"/>
        <pc:sldMkLst>
          <pc:docMk/>
          <pc:sldMk cId="675452913" sldId="258"/>
        </pc:sldMkLst>
        <pc:spChg chg="mod">
          <ac:chgData name="Trivedi Harit" userId="27e5598c8a48512c" providerId="LiveId" clId="{774AB64A-BD6C-47FE-B7D0-2AAA069DDE72}" dt="2026-08-25T00:15:34.817" v="814" actId="20577"/>
          <ac:spMkLst>
            <pc:docMk/>
            <pc:sldMk cId="675452913" sldId="258"/>
            <ac:spMk id="3" creationId="{638D2D73-90EB-8D83-2F1E-E76C5D27BF7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B3B8B-81B9-6561-FED0-56C4D67BD3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06DC932-5904-DE05-19DF-5136FA120B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4E45FA6-626E-3500-9439-6D72DCC286A4}"/>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5" name="Footer Placeholder 4">
            <a:extLst>
              <a:ext uri="{FF2B5EF4-FFF2-40B4-BE49-F238E27FC236}">
                <a16:creationId xmlns:a16="http://schemas.microsoft.com/office/drawing/2014/main" id="{2A9D7C16-86B4-7EE3-84C6-A50C56B70B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87D7B6-2E30-B876-0776-59F147E0455B}"/>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2596700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D80CA-0544-CEC6-213F-05B8C55781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1015BC-F047-77F1-8738-1C2611BE90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FAC5EB-840A-0E41-7C3A-7DEFF3D77879}"/>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5" name="Footer Placeholder 4">
            <a:extLst>
              <a:ext uri="{FF2B5EF4-FFF2-40B4-BE49-F238E27FC236}">
                <a16:creationId xmlns:a16="http://schemas.microsoft.com/office/drawing/2014/main" id="{CDD004E8-CD8A-8617-E4DE-9A262066CD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B0B3EA-E4E0-0765-98A9-1DAEB74C8E8B}"/>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2444800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26649-55F0-F138-6B3B-33068885B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1BB3B3-448E-057E-E542-4A2B444F6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48319E-4A37-FFB6-9462-6C4A56E2C743}"/>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5" name="Footer Placeholder 4">
            <a:extLst>
              <a:ext uri="{FF2B5EF4-FFF2-40B4-BE49-F238E27FC236}">
                <a16:creationId xmlns:a16="http://schemas.microsoft.com/office/drawing/2014/main" id="{87247C3C-8367-F046-0B83-016D24B1F4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0369C8-4C0C-5712-B44A-4EA0E96D19B2}"/>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284524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92E10-0CCA-E488-8D99-C6E5B188DC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273A78-A98F-8BA8-A310-F92E59F8AF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B1DFA2-C165-7D94-2899-A20EF49E38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F2EDC6-A3A0-DDE9-E568-54550BA06EBF}"/>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6" name="Footer Placeholder 5">
            <a:extLst>
              <a:ext uri="{FF2B5EF4-FFF2-40B4-BE49-F238E27FC236}">
                <a16:creationId xmlns:a16="http://schemas.microsoft.com/office/drawing/2014/main" id="{67EC4275-D959-FED3-CD3C-81B77831B4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EA8A80-A6EE-09FF-3C49-3920AC00B5D2}"/>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363203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0BB28-F799-ED27-E64B-88A454A421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EB6C58-B434-4A55-865D-9BD154FF83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9B03FD-3BF1-E4D2-9377-50215BA36C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A1FC61-724F-C381-F8E6-ACE449CB04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8B6799-226B-2604-5DB1-A870C2CECE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D48FA9-6902-F6FB-1036-B71EE719AD79}"/>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8" name="Footer Placeholder 7">
            <a:extLst>
              <a:ext uri="{FF2B5EF4-FFF2-40B4-BE49-F238E27FC236}">
                <a16:creationId xmlns:a16="http://schemas.microsoft.com/office/drawing/2014/main" id="{40D71F92-B6F2-E0B4-D27D-0A526BE519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70CA36-B2D4-C1A7-D313-AB5BABE16309}"/>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3633972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4C683-627D-11A5-2D04-EA57AD6BF3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F35743-EC6C-6512-BC34-01F5D0485E52}"/>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4" name="Footer Placeholder 3">
            <a:extLst>
              <a:ext uri="{FF2B5EF4-FFF2-40B4-BE49-F238E27FC236}">
                <a16:creationId xmlns:a16="http://schemas.microsoft.com/office/drawing/2014/main" id="{448D73E6-38A7-AE17-3452-5A34307829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B45913-4072-00E2-6997-CD4DF5F53B30}"/>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3269314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5522871-058B-D267-6FF0-4159AE537544}"/>
              </a:ext>
            </a:extLst>
          </p:cNvPr>
          <p:cNvSpPr>
            <a:spLocks noGrp="1"/>
          </p:cNvSpPr>
          <p:nvPr>
            <p:ph sz="quarter" idx="13"/>
          </p:nvPr>
        </p:nvSpPr>
        <p:spPr>
          <a:xfrm>
            <a:off x="190500" y="200025"/>
            <a:ext cx="11830050" cy="6381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161407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C0049CD-5E18-13F7-8262-AB9D754A1F98}"/>
              </a:ext>
            </a:extLst>
          </p:cNvPr>
          <p:cNvSpPr>
            <a:spLocks noGrp="1"/>
          </p:cNvSpPr>
          <p:nvPr>
            <p:ph sz="quarter" idx="13"/>
          </p:nvPr>
        </p:nvSpPr>
        <p:spPr>
          <a:xfrm>
            <a:off x="161925" y="304800"/>
            <a:ext cx="11915775" cy="62293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15337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E24C-CC18-2F97-75E1-0F0139D491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894227-DCEB-4626-DE88-8EFA77F4F1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7DA5A9-B32B-8AAF-30C6-63BC813F6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59BD6F-8B65-6C0F-222C-21E35910B845}"/>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6" name="Footer Placeholder 5">
            <a:extLst>
              <a:ext uri="{FF2B5EF4-FFF2-40B4-BE49-F238E27FC236}">
                <a16:creationId xmlns:a16="http://schemas.microsoft.com/office/drawing/2014/main" id="{9ACF0167-F8B1-BAD5-6A1D-BA80DC54D5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3ED8DB-09AD-738C-D2DE-4DA025A7D3B9}"/>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1564142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5DDCE-DE50-C3D4-BA86-1D7CBB0DA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148D8C-5118-79EA-241D-1360CD5318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F2F1623-6B4C-EE3A-4B7C-62B5C2F2A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2D4DA7-DE73-5250-A803-7A2143FB45C3}"/>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6" name="Footer Placeholder 5">
            <a:extLst>
              <a:ext uri="{FF2B5EF4-FFF2-40B4-BE49-F238E27FC236}">
                <a16:creationId xmlns:a16="http://schemas.microsoft.com/office/drawing/2014/main" id="{0023F5EE-D917-EA37-1D6E-26CE63C1A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F7ECEB-F807-D467-28A1-04F64C08D921}"/>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2741226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AC11D-7458-0940-A7C9-79CA50C878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DCA754-48DC-9C1E-7962-A117C2942E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6E29F0-6635-6EAB-0C57-F876A4A44DDD}"/>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5" name="Footer Placeholder 4">
            <a:extLst>
              <a:ext uri="{FF2B5EF4-FFF2-40B4-BE49-F238E27FC236}">
                <a16:creationId xmlns:a16="http://schemas.microsoft.com/office/drawing/2014/main" id="{FA9DA982-5E08-129B-51F0-D7E16AF30D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4D0B19-2FCD-5840-A135-5169316EDDC0}"/>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1909693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2B9029-F73A-ACA8-5805-D7E34F6F24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4AC877-514A-3250-E071-F8B90300B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B85B79-6AA2-0E1F-5011-AFF28A87B06A}"/>
              </a:ext>
            </a:extLst>
          </p:cNvPr>
          <p:cNvSpPr>
            <a:spLocks noGrp="1"/>
          </p:cNvSpPr>
          <p:nvPr>
            <p:ph type="dt" sz="half" idx="10"/>
          </p:nvPr>
        </p:nvSpPr>
        <p:spPr/>
        <p:txBody>
          <a:bodyPr/>
          <a:lstStyle/>
          <a:p>
            <a:fld id="{94817DBE-9AD1-459A-8DD4-80A0E4E2517C}" type="datetimeFigureOut">
              <a:rPr lang="en-IN" smtClean="0"/>
              <a:t>06-09-2026</a:t>
            </a:fld>
            <a:endParaRPr lang="en-IN"/>
          </a:p>
        </p:txBody>
      </p:sp>
      <p:sp>
        <p:nvSpPr>
          <p:cNvPr id="5" name="Footer Placeholder 4">
            <a:extLst>
              <a:ext uri="{FF2B5EF4-FFF2-40B4-BE49-F238E27FC236}">
                <a16:creationId xmlns:a16="http://schemas.microsoft.com/office/drawing/2014/main" id="{14C8B17A-C4DF-6FF1-056C-157BC19F38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807F9B-51DF-80C5-578C-F87F31D36558}"/>
              </a:ext>
            </a:extLst>
          </p:cNvPr>
          <p:cNvSpPr>
            <a:spLocks noGrp="1"/>
          </p:cNvSpPr>
          <p:nvPr>
            <p:ph type="sldNum" sz="quarter" idx="12"/>
          </p:nvPr>
        </p:nvSpPr>
        <p:spPr/>
        <p:txBody>
          <a:bodyPr/>
          <a:lstStyle/>
          <a:p>
            <a:fld id="{6A17F6D1-B4C1-4051-BE99-BBC8736B5845}" type="slidenum">
              <a:rPr lang="en-IN" smtClean="0"/>
              <a:t>‹#›</a:t>
            </a:fld>
            <a:endParaRPr lang="en-IN"/>
          </a:p>
        </p:txBody>
      </p:sp>
    </p:spTree>
    <p:extLst>
      <p:ext uri="{BB962C8B-B14F-4D97-AF65-F5344CB8AC3E}">
        <p14:creationId xmlns:p14="http://schemas.microsoft.com/office/powerpoint/2010/main" val="8767806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A391B-52C0-1369-6940-A0557C20BA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DA0B56-F3E7-5AA8-1E1D-DA7A9E73B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53FB80-4156-0766-052E-1C90CC084A19}"/>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5" name="Footer Placeholder 4">
            <a:extLst>
              <a:ext uri="{FF2B5EF4-FFF2-40B4-BE49-F238E27FC236}">
                <a16:creationId xmlns:a16="http://schemas.microsoft.com/office/drawing/2014/main" id="{5E33D708-E95A-B587-C516-F81F0ABB87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E73E3F-1C47-B961-4C8C-444A9C03B881}"/>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3703066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C3EF8-2190-356B-70E4-B1BF91D106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9DCDAE-63A9-356B-ED24-F0BEB3B144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1E4998-59C8-8FFF-BDC6-D162ACD1441C}"/>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5" name="Footer Placeholder 4">
            <a:extLst>
              <a:ext uri="{FF2B5EF4-FFF2-40B4-BE49-F238E27FC236}">
                <a16:creationId xmlns:a16="http://schemas.microsoft.com/office/drawing/2014/main" id="{0E0EFF3D-43DF-27FF-65F1-81BE620614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374B6F-D250-1C96-A968-2CDFF443166F}"/>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3475777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16371-9797-AFD6-5BC1-95823067B3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C2EDA8-95CC-0B94-69B5-64570B79F1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DD2460-9451-F1D1-F84F-44B8754625B2}"/>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5" name="Footer Placeholder 4">
            <a:extLst>
              <a:ext uri="{FF2B5EF4-FFF2-40B4-BE49-F238E27FC236}">
                <a16:creationId xmlns:a16="http://schemas.microsoft.com/office/drawing/2014/main" id="{5C801219-A7CE-FBA9-786E-09FE393BDA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F75C8E-05E5-0C84-7386-EBAB61F70191}"/>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222878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8C0A-9E69-F60B-560B-1FD47DA026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443D2-2B4C-5D04-A49C-8D8957575D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617A2F-E1FF-613C-3FC6-80F7366F3E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BFCBBC-05E1-5764-03BF-ABBB2AC12A46}"/>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6" name="Footer Placeholder 5">
            <a:extLst>
              <a:ext uri="{FF2B5EF4-FFF2-40B4-BE49-F238E27FC236}">
                <a16:creationId xmlns:a16="http://schemas.microsoft.com/office/drawing/2014/main" id="{B83D707E-0B8F-71C9-EA51-FE2BDECCF0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2391E5-3FB7-660B-6BC3-568A13C7F934}"/>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3215299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DBEFD-5217-FF6E-4758-FF13B24CC0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F70C09-D8E3-E52C-AA5C-12447824E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22F27C-343C-F36A-1020-2657A93E12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98AB4B-5BD3-925F-34FE-480B3C06D0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C6706B-B039-2321-257E-65A6BEBBAE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CD24E7-A5FB-DF80-6276-70C7F2979D63}"/>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8" name="Footer Placeholder 7">
            <a:extLst>
              <a:ext uri="{FF2B5EF4-FFF2-40B4-BE49-F238E27FC236}">
                <a16:creationId xmlns:a16="http://schemas.microsoft.com/office/drawing/2014/main" id="{FDBAF58E-E67C-AC47-5F76-37998AEBF2B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B40560-715D-85BD-18EC-E5F40B924118}"/>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2272964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FA3F-B420-5373-17DB-DAFDC64D4E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316D48-ECC2-FFB1-AC17-CB95F6C7949B}"/>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4" name="Footer Placeholder 3">
            <a:extLst>
              <a:ext uri="{FF2B5EF4-FFF2-40B4-BE49-F238E27FC236}">
                <a16:creationId xmlns:a16="http://schemas.microsoft.com/office/drawing/2014/main" id="{C98C0EF3-EBFC-5FC1-0740-E9BA732D48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591858-84BD-EE41-8CF5-BBADFE353694}"/>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2612469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0A7CCC-5B99-1DE2-0BB5-4952B282E8A7}"/>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3" name="Footer Placeholder 2">
            <a:extLst>
              <a:ext uri="{FF2B5EF4-FFF2-40B4-BE49-F238E27FC236}">
                <a16:creationId xmlns:a16="http://schemas.microsoft.com/office/drawing/2014/main" id="{87EDDB90-6567-3DC7-A4AA-E23933C8DE0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534D2E-228D-DBF9-3829-FE7429B274EB}"/>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10956897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5E36-A696-D078-7ABF-31350693C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E834E7-C73A-92AF-AC6F-F0AB0A8E23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F1438C8-175A-508C-5225-1D026F6C11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A69931-2708-2671-4E8E-BE1EF3C110C0}"/>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6" name="Footer Placeholder 5">
            <a:extLst>
              <a:ext uri="{FF2B5EF4-FFF2-40B4-BE49-F238E27FC236}">
                <a16:creationId xmlns:a16="http://schemas.microsoft.com/office/drawing/2014/main" id="{40194DFF-D7A0-64A8-FA9B-3006F080C1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78B91F-6ADD-5C0D-DB0C-9652203E2486}"/>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541160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C9347-6560-F1A4-2AFA-54A00D903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EC6415-E915-6D38-FE6E-83F9ABBABC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D77AB6-17FD-D0F1-4F68-DB94343A1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7BE53E-044F-5B73-0F83-54C6A8F2F2DD}"/>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6" name="Footer Placeholder 5">
            <a:extLst>
              <a:ext uri="{FF2B5EF4-FFF2-40B4-BE49-F238E27FC236}">
                <a16:creationId xmlns:a16="http://schemas.microsoft.com/office/drawing/2014/main" id="{CED16016-1696-2D5A-827E-17DEE29DFD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B5ED87-ED47-9F8B-85B0-CECA2F30AE0C}"/>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27687363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9CB30-2FFC-54FB-C0B7-F0109C416D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FD971A-FE16-64BA-8CF3-56A443A107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A64EF9-C737-C85B-914D-6C1516E2724E}"/>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5" name="Footer Placeholder 4">
            <a:extLst>
              <a:ext uri="{FF2B5EF4-FFF2-40B4-BE49-F238E27FC236}">
                <a16:creationId xmlns:a16="http://schemas.microsoft.com/office/drawing/2014/main" id="{0CADCCFB-4E10-6CF2-F8F4-DBAC1E2F5B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E66E7C-8217-4A37-9C42-E5A4749C63D9}"/>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39475098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7D32A6-105C-6666-DE5F-707473D6EE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176B05-9C44-C5F1-443E-472A77E9C7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3E6528-09B6-9EEE-FF79-69A9E37126B8}"/>
              </a:ext>
            </a:extLst>
          </p:cNvPr>
          <p:cNvSpPr>
            <a:spLocks noGrp="1"/>
          </p:cNvSpPr>
          <p:nvPr>
            <p:ph type="dt" sz="half" idx="10"/>
          </p:nvPr>
        </p:nvSpPr>
        <p:spPr/>
        <p:txBody>
          <a:bodyPr/>
          <a:lstStyle/>
          <a:p>
            <a:fld id="{2CD3E073-5473-4FB4-9DE5-CB5690CDFE30}" type="datetimeFigureOut">
              <a:rPr lang="en-IN" smtClean="0"/>
              <a:t>06-09-2026</a:t>
            </a:fld>
            <a:endParaRPr lang="en-IN"/>
          </a:p>
        </p:txBody>
      </p:sp>
      <p:sp>
        <p:nvSpPr>
          <p:cNvPr id="5" name="Footer Placeholder 4">
            <a:extLst>
              <a:ext uri="{FF2B5EF4-FFF2-40B4-BE49-F238E27FC236}">
                <a16:creationId xmlns:a16="http://schemas.microsoft.com/office/drawing/2014/main" id="{54B6D705-E6D6-9147-E106-C0B83DEEDF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6181B9-145C-69CB-1A54-86C78700C053}"/>
              </a:ext>
            </a:extLst>
          </p:cNvPr>
          <p:cNvSpPr>
            <a:spLocks noGrp="1"/>
          </p:cNvSpPr>
          <p:nvPr>
            <p:ph type="sldNum" sz="quarter" idx="12"/>
          </p:nvPr>
        </p:nvSpPr>
        <p:spPr/>
        <p:txBody>
          <a:bodyPr/>
          <a:lstStyle/>
          <a:p>
            <a:fld id="{A7492FA0-3C54-46F1-86C6-588C1B136F01}" type="slidenum">
              <a:rPr lang="en-IN" smtClean="0"/>
              <a:t>‹#›</a:t>
            </a:fld>
            <a:endParaRPr lang="en-IN"/>
          </a:p>
        </p:txBody>
      </p:sp>
    </p:spTree>
    <p:extLst>
      <p:ext uri="{BB962C8B-B14F-4D97-AF65-F5344CB8AC3E}">
        <p14:creationId xmlns:p14="http://schemas.microsoft.com/office/powerpoint/2010/main" val="332316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DB0BE2-D762-D0D2-F00D-00F508A2BB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C8C6A8-F6BE-4AE2-2E7C-71EB5E0B24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D4D2F6-07F9-6F5C-4351-F0C0AF8DB9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817DBE-9AD1-459A-8DD4-80A0E4E2517C}" type="datetimeFigureOut">
              <a:rPr lang="en-IN" smtClean="0"/>
              <a:t>06-09-2026</a:t>
            </a:fld>
            <a:endParaRPr lang="en-IN"/>
          </a:p>
        </p:txBody>
      </p:sp>
      <p:sp>
        <p:nvSpPr>
          <p:cNvPr id="5" name="Footer Placeholder 4">
            <a:extLst>
              <a:ext uri="{FF2B5EF4-FFF2-40B4-BE49-F238E27FC236}">
                <a16:creationId xmlns:a16="http://schemas.microsoft.com/office/drawing/2014/main" id="{67AF8AE6-A6C5-6EEB-F036-A868528EC8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C2E0BA2-A76B-EDCC-35AB-22CE09F9C8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7F6D1-B4C1-4051-BE99-BBC8736B5845}" type="slidenum">
              <a:rPr lang="en-IN" smtClean="0"/>
              <a:t>‹#›</a:t>
            </a:fld>
            <a:endParaRPr lang="en-IN"/>
          </a:p>
        </p:txBody>
      </p:sp>
    </p:spTree>
    <p:extLst>
      <p:ext uri="{BB962C8B-B14F-4D97-AF65-F5344CB8AC3E}">
        <p14:creationId xmlns:p14="http://schemas.microsoft.com/office/powerpoint/2010/main" val="3026067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C26079-F25F-E903-2C25-840B495F62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F2B3EF-20E9-2A5E-8D27-F1C6276FE0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E7398E-33FC-71DA-8E9E-4883D0C363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D3E073-5473-4FB4-9DE5-CB5690CDFE30}" type="datetimeFigureOut">
              <a:rPr lang="en-IN" smtClean="0"/>
              <a:t>06-09-2026</a:t>
            </a:fld>
            <a:endParaRPr lang="en-IN"/>
          </a:p>
        </p:txBody>
      </p:sp>
      <p:sp>
        <p:nvSpPr>
          <p:cNvPr id="5" name="Footer Placeholder 4">
            <a:extLst>
              <a:ext uri="{FF2B5EF4-FFF2-40B4-BE49-F238E27FC236}">
                <a16:creationId xmlns:a16="http://schemas.microsoft.com/office/drawing/2014/main" id="{B0D10035-D51D-9D55-D675-73776B609F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A915922-ECB4-1224-A7FE-BD1B8A555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492FA0-3C54-46F1-86C6-588C1B136F01}" type="slidenum">
              <a:rPr lang="en-IN" smtClean="0"/>
              <a:t>‹#›</a:t>
            </a:fld>
            <a:endParaRPr lang="en-IN"/>
          </a:p>
        </p:txBody>
      </p:sp>
    </p:spTree>
    <p:extLst>
      <p:ext uri="{BB962C8B-B14F-4D97-AF65-F5344CB8AC3E}">
        <p14:creationId xmlns:p14="http://schemas.microsoft.com/office/powerpoint/2010/main" val="299967029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293CB-CE82-C009-B56C-7061CC36382F}"/>
              </a:ext>
            </a:extLst>
          </p:cNvPr>
          <p:cNvSpPr>
            <a:spLocks noGrp="1"/>
          </p:cNvSpPr>
          <p:nvPr>
            <p:ph type="ctrTitle"/>
          </p:nvPr>
        </p:nvSpPr>
        <p:spPr>
          <a:xfrm>
            <a:off x="1523999" y="1140543"/>
            <a:ext cx="9212827" cy="2369420"/>
          </a:xfrm>
        </p:spPr>
        <p:txBody>
          <a:bodyPr/>
          <a:lstStyle/>
          <a:p>
            <a:r>
              <a:rPr lang="en-IN" dirty="0">
                <a:solidFill>
                  <a:schemeClr val="bg2"/>
                </a:solidFill>
              </a:rPr>
              <a:t>Wildlife species classification </a:t>
            </a:r>
          </a:p>
        </p:txBody>
      </p:sp>
      <p:sp>
        <p:nvSpPr>
          <p:cNvPr id="3" name="Subtitle 2">
            <a:extLst>
              <a:ext uri="{FF2B5EF4-FFF2-40B4-BE49-F238E27FC236}">
                <a16:creationId xmlns:a16="http://schemas.microsoft.com/office/drawing/2014/main" id="{C0AB008A-05D7-2BBD-334E-21F46FAB8AF0}"/>
              </a:ext>
            </a:extLst>
          </p:cNvPr>
          <p:cNvSpPr>
            <a:spLocks noGrp="1"/>
          </p:cNvSpPr>
          <p:nvPr>
            <p:ph type="subTitle" idx="1"/>
          </p:nvPr>
        </p:nvSpPr>
        <p:spPr/>
        <p:txBody>
          <a:bodyPr/>
          <a:lstStyle/>
          <a:p>
            <a:r>
              <a:rPr lang="en-IN" dirty="0"/>
              <a:t>Name : Shiv Trivedi</a:t>
            </a:r>
          </a:p>
          <a:p>
            <a:r>
              <a:rPr lang="en-IN" dirty="0"/>
              <a:t>Student id : 100536444</a:t>
            </a:r>
          </a:p>
          <a:p>
            <a:r>
              <a:rPr lang="en-IN" dirty="0"/>
              <a:t>Supervisor : Cheng Wang</a:t>
            </a:r>
          </a:p>
        </p:txBody>
      </p:sp>
    </p:spTree>
    <p:extLst>
      <p:ext uri="{BB962C8B-B14F-4D97-AF65-F5344CB8AC3E}">
        <p14:creationId xmlns:p14="http://schemas.microsoft.com/office/powerpoint/2010/main" val="1703561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3E6BD9-CB98-90A6-7CCC-6A6B30CD2B4D}"/>
              </a:ext>
            </a:extLst>
          </p:cNvPr>
          <p:cNvSpPr>
            <a:spLocks noGrp="1"/>
          </p:cNvSpPr>
          <p:nvPr>
            <p:ph type="title"/>
          </p:nvPr>
        </p:nvSpPr>
        <p:spPr/>
        <p:txBody>
          <a:bodyPr/>
          <a:lstStyle/>
          <a:p>
            <a:r>
              <a:rPr lang="en-US" sz="6000" b="1" dirty="0"/>
              <a:t>Introduction</a:t>
            </a:r>
            <a:r>
              <a:rPr lang="en-US" dirty="0"/>
              <a:t> </a:t>
            </a:r>
            <a:endParaRPr lang="en-IN" dirty="0"/>
          </a:p>
        </p:txBody>
      </p:sp>
      <p:sp>
        <p:nvSpPr>
          <p:cNvPr id="4" name="Content Placeholder 3">
            <a:extLst>
              <a:ext uri="{FF2B5EF4-FFF2-40B4-BE49-F238E27FC236}">
                <a16:creationId xmlns:a16="http://schemas.microsoft.com/office/drawing/2014/main" id="{34E2EDFF-7DE8-645A-A07A-008BF391236B}"/>
              </a:ext>
            </a:extLst>
          </p:cNvPr>
          <p:cNvSpPr>
            <a:spLocks noGrp="1"/>
          </p:cNvSpPr>
          <p:nvPr>
            <p:ph idx="1"/>
          </p:nvPr>
        </p:nvSpPr>
        <p:spPr/>
        <p:txBody>
          <a:bodyPr>
            <a:normAutofit fontScale="92500" lnSpcReduction="10000"/>
          </a:bodyPr>
          <a:lstStyle/>
          <a:p>
            <a:r>
              <a:rPr lang="en-US" dirty="0"/>
              <a:t> </a:t>
            </a:r>
            <a:r>
              <a:rPr lang="en-IN" b="1" dirty="0"/>
              <a:t>“To understand wildlife, we must first learn to see what often goes unseen.”</a:t>
            </a:r>
            <a:br>
              <a:rPr lang="en-IN" dirty="0"/>
            </a:br>
            <a:r>
              <a:rPr lang="en-IN" dirty="0"/>
              <a:t>— </a:t>
            </a:r>
            <a:r>
              <a:rPr lang="en-IN" i="1" dirty="0"/>
              <a:t>Anonymous</a:t>
            </a:r>
          </a:p>
          <a:p>
            <a:r>
              <a:rPr lang="en-IN" i="1" dirty="0"/>
              <a:t> </a:t>
            </a:r>
            <a:r>
              <a:rPr lang="en-IN" dirty="0"/>
              <a:t>There are countless mysteries hidden within our forests, such as unseen animal species, animal movements, and changes within the forest that we are still not fully aware of.</a:t>
            </a:r>
          </a:p>
          <a:p>
            <a:r>
              <a:rPr lang="en-IN" dirty="0"/>
              <a:t> To understand wildlife better, we must study animals and their movements using advanced technologies that allow us to observe them without causing harm. </a:t>
            </a:r>
          </a:p>
          <a:p>
            <a:r>
              <a:rPr lang="en-IN" dirty="0"/>
              <a:t> Camera traps provide an effective, non-invasive solution for addressing this gap by enabling the use of advanced technology to monitor and study wildlife in their natural environment.</a:t>
            </a:r>
          </a:p>
        </p:txBody>
      </p:sp>
    </p:spTree>
    <p:extLst>
      <p:ext uri="{BB962C8B-B14F-4D97-AF65-F5344CB8AC3E}">
        <p14:creationId xmlns:p14="http://schemas.microsoft.com/office/powerpoint/2010/main" val="2741990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6038F-26EB-AF46-0249-1ED31CC42F15}"/>
              </a:ext>
            </a:extLst>
          </p:cNvPr>
          <p:cNvSpPr>
            <a:spLocks noGrp="1"/>
          </p:cNvSpPr>
          <p:nvPr>
            <p:ph type="title"/>
          </p:nvPr>
        </p:nvSpPr>
        <p:spPr>
          <a:xfrm>
            <a:off x="836612" y="1125793"/>
            <a:ext cx="3932237" cy="530225"/>
          </a:xfrm>
        </p:spPr>
        <p:txBody>
          <a:bodyPr>
            <a:normAutofit fontScale="90000"/>
          </a:bodyPr>
          <a:lstStyle/>
          <a:p>
            <a:r>
              <a:rPr lang="en-US" sz="6700" b="1" dirty="0"/>
              <a:t>Camera- traps</a:t>
            </a:r>
            <a:r>
              <a:rPr lang="en-US" b="1" dirty="0"/>
              <a:t> </a:t>
            </a:r>
            <a:endParaRPr lang="en-IN" b="1" dirty="0"/>
          </a:p>
        </p:txBody>
      </p:sp>
      <p:pic>
        <p:nvPicPr>
          <p:cNvPr id="6" name="Picture Placeholder 5">
            <a:extLst>
              <a:ext uri="{FF2B5EF4-FFF2-40B4-BE49-F238E27FC236}">
                <a16:creationId xmlns:a16="http://schemas.microsoft.com/office/drawing/2014/main" id="{62AAA548-4D43-50C2-2E63-DD9E4F1F679E}"/>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508" r="2508"/>
          <a:stretch>
            <a:fillRect/>
          </a:stretch>
        </p:blipFill>
        <p:spPr>
          <a:xfrm>
            <a:off x="5073445" y="1320697"/>
            <a:ext cx="6281943" cy="4873625"/>
          </a:xfrm>
          <a:prstGeom prst="rect">
            <a:avLst/>
          </a:prstGeom>
        </p:spPr>
      </p:pic>
      <p:sp>
        <p:nvSpPr>
          <p:cNvPr id="4" name="Text Placeholder 3">
            <a:extLst>
              <a:ext uri="{FF2B5EF4-FFF2-40B4-BE49-F238E27FC236}">
                <a16:creationId xmlns:a16="http://schemas.microsoft.com/office/drawing/2014/main" id="{608E928B-13AC-FF6C-7A1B-2F0EA9D33AD8}"/>
              </a:ext>
            </a:extLst>
          </p:cNvPr>
          <p:cNvSpPr>
            <a:spLocks noGrp="1"/>
          </p:cNvSpPr>
          <p:nvPr>
            <p:ph type="body" sz="half" idx="2"/>
          </p:nvPr>
        </p:nvSpPr>
        <p:spPr>
          <a:xfrm>
            <a:off x="167149" y="1777180"/>
            <a:ext cx="4601700" cy="4873625"/>
          </a:xfrm>
        </p:spPr>
        <p:txBody>
          <a:bodyPr>
            <a:normAutofit/>
          </a:bodyPr>
          <a:lstStyle/>
          <a:p>
            <a:pPr marL="285750" indent="-285750">
              <a:buFont typeface="Arial" panose="020B0604020202020204" pitchFamily="34" charset="0"/>
              <a:buChar char="•"/>
            </a:pPr>
            <a:r>
              <a:rPr lang="en-US" sz="1800" dirty="0"/>
              <a:t>Camera traps are considered as one of the useful weapon in wildlife industry.</a:t>
            </a:r>
          </a:p>
          <a:p>
            <a:pPr marL="285750" indent="-285750">
              <a:buFont typeface="Arial" panose="020B0604020202020204" pitchFamily="34" charset="0"/>
              <a:buChar char="•"/>
            </a:pPr>
            <a:r>
              <a:rPr lang="en-IN" sz="1800" dirty="0"/>
              <a:t>Camera traps are automated  cameras which captures the images of wildlife whenever the moment is captured </a:t>
            </a:r>
          </a:p>
          <a:p>
            <a:pPr marL="285750" indent="-285750">
              <a:buFont typeface="Arial" panose="020B0604020202020204" pitchFamily="34" charset="0"/>
              <a:buChar char="•"/>
            </a:pPr>
            <a:r>
              <a:rPr lang="en-IN" sz="1800" dirty="0"/>
              <a:t> These devices allow researchers and ecologists to monitor wildlife species and their movements without causing any disturbance or inconvenience to the animals.</a:t>
            </a:r>
          </a:p>
          <a:p>
            <a:pPr marL="285750" indent="-285750">
              <a:buFont typeface="Arial" panose="020B0604020202020204" pitchFamily="34" charset="0"/>
              <a:buChar char="•"/>
            </a:pPr>
            <a:r>
              <a:rPr lang="en-IN" sz="1800" dirty="0"/>
              <a:t>They capture large amounts of visual data under various environmental conditions, both during the day and at night, which can be used for species identification, population monitoring, and behavioural analysis</a:t>
            </a:r>
          </a:p>
        </p:txBody>
      </p:sp>
    </p:spTree>
    <p:extLst>
      <p:ext uri="{BB962C8B-B14F-4D97-AF65-F5344CB8AC3E}">
        <p14:creationId xmlns:p14="http://schemas.microsoft.com/office/powerpoint/2010/main" val="2573370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2BD51-2015-901D-1787-618FCF1B4259}"/>
              </a:ext>
            </a:extLst>
          </p:cNvPr>
          <p:cNvSpPr>
            <a:spLocks noGrp="1"/>
          </p:cNvSpPr>
          <p:nvPr>
            <p:ph type="title"/>
          </p:nvPr>
        </p:nvSpPr>
        <p:spPr/>
        <p:txBody>
          <a:bodyPr/>
          <a:lstStyle/>
          <a:p>
            <a:r>
              <a:rPr lang="en-US" sz="6000" b="1" dirty="0"/>
              <a:t>Core Aim</a:t>
            </a:r>
            <a:r>
              <a:rPr lang="en-US" dirty="0"/>
              <a:t> </a:t>
            </a:r>
            <a:endParaRPr lang="en-IN" dirty="0"/>
          </a:p>
        </p:txBody>
      </p:sp>
      <p:sp>
        <p:nvSpPr>
          <p:cNvPr id="3" name="Content Placeholder 2">
            <a:extLst>
              <a:ext uri="{FF2B5EF4-FFF2-40B4-BE49-F238E27FC236}">
                <a16:creationId xmlns:a16="http://schemas.microsoft.com/office/drawing/2014/main" id="{45CCFE68-66C8-0FF3-5AD5-93FCF9D9378C}"/>
              </a:ext>
            </a:extLst>
          </p:cNvPr>
          <p:cNvSpPr>
            <a:spLocks noGrp="1"/>
          </p:cNvSpPr>
          <p:nvPr>
            <p:ph idx="1"/>
          </p:nvPr>
        </p:nvSpPr>
        <p:spPr/>
        <p:txBody>
          <a:bodyPr>
            <a:normAutofit lnSpcReduction="10000"/>
          </a:bodyPr>
          <a:lstStyle/>
          <a:p>
            <a:r>
              <a:rPr lang="en-IN" dirty="0"/>
              <a:t>The main objective of this dissertation is to develop an automated animal classification system using machine learning models to identify different wildlife species from camera-trap images.</a:t>
            </a:r>
          </a:p>
          <a:p>
            <a:r>
              <a:rPr lang="en-IN" dirty="0"/>
              <a:t> The system uses convolutional neural networks (CNNs) to analyse wildlife images and perform automated species classification, providing an effective approach to processing large-scale camera-trap data.</a:t>
            </a:r>
          </a:p>
          <a:p>
            <a:r>
              <a:rPr lang="en-IN" dirty="0"/>
              <a:t> I have developed a systematic pipeline for image classification, starting from data preprocessing and preparation, followed by model training, depth integration, and model evaluation to achieve reliable wildlife species classification.</a:t>
            </a:r>
          </a:p>
        </p:txBody>
      </p:sp>
    </p:spTree>
    <p:extLst>
      <p:ext uri="{BB962C8B-B14F-4D97-AF65-F5344CB8AC3E}">
        <p14:creationId xmlns:p14="http://schemas.microsoft.com/office/powerpoint/2010/main" val="3880028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F873B7-6C0B-C16C-8792-939D97CEEFDC}"/>
              </a:ext>
            </a:extLst>
          </p:cNvPr>
          <p:cNvSpPr txBox="1"/>
          <p:nvPr/>
        </p:nvSpPr>
        <p:spPr>
          <a:xfrm>
            <a:off x="0" y="3995678"/>
            <a:ext cx="11915775" cy="2862322"/>
          </a:xfrm>
          <a:prstGeom prst="rect">
            <a:avLst/>
          </a:prstGeom>
          <a:noFill/>
        </p:spPr>
        <p:txBody>
          <a:bodyPr wrap="square" rtlCol="0">
            <a:spAutoFit/>
          </a:bodyPr>
          <a:lstStyle/>
          <a:p>
            <a:pPr marL="285750" indent="-285750">
              <a:buFont typeface="Arial" panose="020B0604020202020204" pitchFamily="34" charset="0"/>
              <a:buChar char="•"/>
            </a:pPr>
            <a:r>
              <a:rPr lang="en-IN" dirty="0"/>
              <a:t>Before discussing the further stages of this research, I would like to highlight the central question of this study: “Does adding depth information improve wildlife species classification?”</a:t>
            </a:r>
          </a:p>
          <a:p>
            <a:pPr marL="285750" indent="-285750">
              <a:buFont typeface="Arial" panose="020B0604020202020204" pitchFamily="34" charset="0"/>
              <a:buChar char="•"/>
            </a:pPr>
            <a:r>
              <a:rPr lang="en-IN" dirty="0"/>
              <a:t>This research provides a clear comparison between three-channel RGB images and four-channel RGB images enhanced with depth information.</a:t>
            </a:r>
          </a:p>
          <a:p>
            <a:pPr marL="285750" indent="-285750">
              <a:buFont typeface="Arial" panose="020B0604020202020204" pitchFamily="34" charset="0"/>
              <a:buChar char="•"/>
            </a:pPr>
            <a:r>
              <a:rPr lang="en-IN" dirty="0"/>
              <a:t>The RGB model uses the conventional three colour channels to learn visual features such as colour, shape, texture, and appearance.</a:t>
            </a:r>
          </a:p>
          <a:p>
            <a:pPr marL="285750" indent="-285750">
              <a:buFont typeface="Arial" panose="020B0604020202020204" pitchFamily="34" charset="0"/>
              <a:buChar char="•"/>
            </a:pPr>
            <a:r>
              <a:rPr lang="en-IN" dirty="0"/>
              <a:t>The depth-enhanced model adds a fourth depth channel, providing additional spatial information about the distance and structure of objects within the scene.</a:t>
            </a:r>
          </a:p>
          <a:p>
            <a:pPr marL="285750" indent="-285750">
              <a:buFont typeface="Arial" panose="020B0604020202020204" pitchFamily="34" charset="0"/>
              <a:buChar char="•"/>
            </a:pPr>
            <a:r>
              <a:rPr lang="en-IN" dirty="0"/>
              <a:t>The comparison helps determine whether the additional depth information provides a measurable improvement in wildlife species classification compared with RGB information alone.</a:t>
            </a:r>
            <a:endParaRPr lang="en-US" dirty="0"/>
          </a:p>
        </p:txBody>
      </p:sp>
      <p:pic>
        <p:nvPicPr>
          <p:cNvPr id="6" name="Picture 5" descr="research_question_fit.png"/>
          <p:cNvPicPr>
            <a:picLocks noChangeAspect="1"/>
          </p:cNvPicPr>
          <p:nvPr/>
        </p:nvPicPr>
        <p:blipFill>
          <a:blip r:embed="rId2"/>
          <a:stretch>
            <a:fillRect/>
          </a:stretch>
        </p:blipFill>
        <p:spPr>
          <a:xfrm>
            <a:off x="0" y="1042218"/>
            <a:ext cx="12192000" cy="2953459"/>
          </a:xfrm>
          <a:prstGeom prst="rect">
            <a:avLst/>
          </a:prstGeom>
        </p:spPr>
      </p:pic>
      <p:sp>
        <p:nvSpPr>
          <p:cNvPr id="2" name="TextBox 1">
            <a:extLst>
              <a:ext uri="{FF2B5EF4-FFF2-40B4-BE49-F238E27FC236}">
                <a16:creationId xmlns:a16="http://schemas.microsoft.com/office/drawing/2014/main" id="{703CFA0F-E18C-F73D-F83C-D62512B51EA7}"/>
              </a:ext>
            </a:extLst>
          </p:cNvPr>
          <p:cNvSpPr txBox="1"/>
          <p:nvPr/>
        </p:nvSpPr>
        <p:spPr>
          <a:xfrm>
            <a:off x="275303" y="0"/>
            <a:ext cx="11640472" cy="1015663"/>
          </a:xfrm>
          <a:prstGeom prst="rect">
            <a:avLst/>
          </a:prstGeom>
          <a:noFill/>
        </p:spPr>
        <p:txBody>
          <a:bodyPr wrap="square" rtlCol="0">
            <a:spAutoFit/>
          </a:bodyPr>
          <a:lstStyle/>
          <a:p>
            <a:r>
              <a:rPr lang="en-IN" sz="6000" b="1" dirty="0"/>
              <a:t>Central Research Question</a:t>
            </a:r>
          </a:p>
        </p:txBody>
      </p:sp>
    </p:spTree>
    <p:extLst>
      <p:ext uri="{BB962C8B-B14F-4D97-AF65-F5344CB8AC3E}">
        <p14:creationId xmlns:p14="http://schemas.microsoft.com/office/powerpoint/2010/main" val="3803798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C2C251-5B5C-843E-AE3F-C7B110997C09}"/>
              </a:ext>
            </a:extLst>
          </p:cNvPr>
          <p:cNvSpPr txBox="1"/>
          <p:nvPr/>
        </p:nvSpPr>
        <p:spPr>
          <a:xfrm>
            <a:off x="0" y="1192972"/>
            <a:ext cx="6867770" cy="5355312"/>
          </a:xfrm>
          <a:prstGeom prst="rect">
            <a:avLst/>
          </a:prstGeom>
          <a:noFill/>
        </p:spPr>
        <p:txBody>
          <a:bodyPr wrap="square" rtlCol="0">
            <a:spAutoFit/>
          </a:bodyPr>
          <a:lstStyle/>
          <a:p>
            <a:pPr marL="285750" indent="-285750">
              <a:buFont typeface="Arial" panose="020B0604020202020204" pitchFamily="34" charset="0"/>
              <a:buChar char="•"/>
            </a:pPr>
            <a:r>
              <a:rPr lang="en-US" dirty="0"/>
              <a:t>The diagram shows complete working of my dissertation using CCT20 dataset consist of 57,864 images across 13 animal species begins with pre-processing of dataset ends with live </a:t>
            </a:r>
            <a:r>
              <a:rPr lang="en-US" dirty="0" err="1"/>
              <a:t>demosntrartion</a:t>
            </a:r>
            <a:r>
              <a:rPr lang="en-US" dirty="0"/>
              <a:t> of final classification layer.</a:t>
            </a:r>
          </a:p>
          <a:p>
            <a:endParaRPr lang="en-US" dirty="0"/>
          </a:p>
          <a:p>
            <a:pPr marL="285750" indent="-285750">
              <a:buFont typeface="Arial" panose="020B0604020202020204" pitchFamily="34" charset="0"/>
              <a:buChar char="•"/>
            </a:pPr>
            <a:r>
              <a:rPr lang="en-US" dirty="0"/>
              <a:t>The images first pre-processed and used to generate both the original RGB inputs and additional depth information.</a:t>
            </a:r>
          </a:p>
          <a:p>
            <a:endParaRPr lang="en-US" dirty="0"/>
          </a:p>
          <a:p>
            <a:pPr marL="285750" indent="-285750">
              <a:buFont typeface="Arial" panose="020B0604020202020204" pitchFamily="34" charset="0"/>
              <a:buChar char="•"/>
            </a:pPr>
            <a:r>
              <a:rPr lang="en-US" dirty="0"/>
              <a:t>After pre-processing the next important step is model learning approach, </a:t>
            </a:r>
            <a:r>
              <a:rPr lang="en-IN" dirty="0"/>
              <a:t>I conducted different modelling approaches to compare RGB-only classification with RGB and depth-based approaches.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outputs were then evaluated using standard classification metrics, and finally, the best-performing approach was integrated into a Flask-based live demonstration.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So, in simple terms, this slide shows the complete journey of my project — </a:t>
            </a:r>
            <a:r>
              <a:rPr lang="en-IN" b="1" dirty="0"/>
              <a:t>from the dataset, through modelling and evaluation, to the final working system</a:t>
            </a:r>
            <a:r>
              <a:rPr lang="en-IN" dirty="0"/>
              <a:t>.”</a:t>
            </a:r>
            <a:endParaRPr lang="en-US" dirty="0"/>
          </a:p>
        </p:txBody>
      </p:sp>
      <p:sp>
        <p:nvSpPr>
          <p:cNvPr id="2" name="TextBox 1">
            <a:extLst>
              <a:ext uri="{FF2B5EF4-FFF2-40B4-BE49-F238E27FC236}">
                <a16:creationId xmlns:a16="http://schemas.microsoft.com/office/drawing/2014/main" id="{148FCC68-2B8A-479D-D749-E05F49A2FCEF}"/>
              </a:ext>
            </a:extLst>
          </p:cNvPr>
          <p:cNvSpPr txBox="1"/>
          <p:nvPr/>
        </p:nvSpPr>
        <p:spPr>
          <a:xfrm>
            <a:off x="746924" y="-116836"/>
            <a:ext cx="6312310" cy="1015663"/>
          </a:xfrm>
          <a:prstGeom prst="rect">
            <a:avLst/>
          </a:prstGeom>
          <a:noFill/>
        </p:spPr>
        <p:txBody>
          <a:bodyPr wrap="square" rtlCol="0">
            <a:spAutoFit/>
          </a:bodyPr>
          <a:lstStyle/>
          <a:p>
            <a:r>
              <a:rPr lang="en-IN" sz="6000" dirty="0"/>
              <a:t>Working Flow</a:t>
            </a:r>
          </a:p>
        </p:txBody>
      </p:sp>
      <p:pic>
        <p:nvPicPr>
          <p:cNvPr id="6" name="Picture 5" descr="pipeline_diagram.png"/>
          <p:cNvPicPr>
            <a:picLocks noChangeAspect="1"/>
          </p:cNvPicPr>
          <p:nvPr/>
        </p:nvPicPr>
        <p:blipFill>
          <a:blip r:embed="rId2"/>
          <a:stretch>
            <a:fillRect/>
          </a:stretch>
        </p:blipFill>
        <p:spPr>
          <a:xfrm>
            <a:off x="6909975" y="0"/>
            <a:ext cx="5239819" cy="6857999"/>
          </a:xfrm>
          <a:prstGeom prst="rect">
            <a:avLst/>
          </a:prstGeom>
        </p:spPr>
      </p:pic>
    </p:spTree>
    <p:extLst>
      <p:ext uri="{BB962C8B-B14F-4D97-AF65-F5344CB8AC3E}">
        <p14:creationId xmlns:p14="http://schemas.microsoft.com/office/powerpoint/2010/main" val="492219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7A377-572C-24CC-6CA3-8E72D7A9DF28}"/>
              </a:ext>
            </a:extLst>
          </p:cNvPr>
          <p:cNvSpPr>
            <a:spLocks noGrp="1"/>
          </p:cNvSpPr>
          <p:nvPr>
            <p:ph type="ctrTitle"/>
          </p:nvPr>
        </p:nvSpPr>
        <p:spPr>
          <a:xfrm>
            <a:off x="-1170039" y="-116501"/>
            <a:ext cx="9144000" cy="952243"/>
          </a:xfrm>
        </p:spPr>
        <p:txBody>
          <a:bodyPr/>
          <a:lstStyle/>
          <a:p>
            <a:r>
              <a:rPr lang="en-IN" b="1" dirty="0"/>
              <a:t>Dataset Exploring</a:t>
            </a:r>
          </a:p>
        </p:txBody>
      </p:sp>
      <p:sp>
        <p:nvSpPr>
          <p:cNvPr id="3" name="Subtitle 2">
            <a:extLst>
              <a:ext uri="{FF2B5EF4-FFF2-40B4-BE49-F238E27FC236}">
                <a16:creationId xmlns:a16="http://schemas.microsoft.com/office/drawing/2014/main" id="{E3A9BA4B-7CAA-79BE-4A47-340B828AD020}"/>
              </a:ext>
            </a:extLst>
          </p:cNvPr>
          <p:cNvSpPr>
            <a:spLocks noGrp="1"/>
          </p:cNvSpPr>
          <p:nvPr>
            <p:ph type="subTitle" idx="1"/>
          </p:nvPr>
        </p:nvSpPr>
        <p:spPr>
          <a:xfrm>
            <a:off x="-68826" y="1145512"/>
            <a:ext cx="12191999" cy="5486400"/>
          </a:xfrm>
        </p:spPr>
        <p:txBody>
          <a:bodyPr>
            <a:noAutofit/>
          </a:bodyPr>
          <a:lstStyle/>
          <a:p>
            <a:pPr marL="342900" indent="-342900" algn="l">
              <a:buFont typeface="Arial" panose="020B0604020202020204" pitchFamily="34" charset="0"/>
              <a:buChar char="•"/>
            </a:pPr>
            <a:r>
              <a:rPr lang="en-IN" sz="1800" dirty="0"/>
              <a:t>The first and most fundamental step of my research was to download and explore the dataset to understand its structure, content, and suitability for this research. </a:t>
            </a:r>
          </a:p>
          <a:p>
            <a:pPr algn="l"/>
            <a:endParaRPr lang="en-IN" sz="1800" dirty="0"/>
          </a:p>
          <a:p>
            <a:pPr marL="342900" indent="-342900" algn="l">
              <a:buFont typeface="Arial" panose="020B0604020202020204" pitchFamily="34" charset="0"/>
              <a:buChar char="•"/>
            </a:pPr>
            <a:r>
              <a:rPr lang="en-IN" sz="1800" dirty="0"/>
              <a:t>I used the CCT20 dataset, which contains 57,864 camera-trap images across 13 animal species. Before proceeding with model development.</a:t>
            </a:r>
          </a:p>
          <a:p>
            <a:pPr algn="l"/>
            <a:endParaRPr lang="en-IN" sz="1800" dirty="0"/>
          </a:p>
          <a:p>
            <a:pPr marL="342900" indent="-342900" algn="l">
              <a:buFont typeface="Arial" panose="020B0604020202020204" pitchFamily="34" charset="0"/>
              <a:buChar char="•"/>
            </a:pPr>
            <a:r>
              <a:rPr lang="en-IN" sz="1800" dirty="0"/>
              <a:t>During dataset exploration, I found that different animal species contained different numbers of image samples. To reduce the impact of class imbalance, I selected only the species with more than 100 image samples for training and evaluation. This ensured that each class had sufficient data for reliable model learning and comparison. </a:t>
            </a:r>
          </a:p>
          <a:p>
            <a:pPr algn="l"/>
            <a:endParaRPr lang="en-IN" sz="1800" dirty="0"/>
          </a:p>
          <a:p>
            <a:pPr marL="342900" indent="-342900" algn="l">
              <a:buFont typeface="Arial" panose="020B0604020202020204" pitchFamily="34" charset="0"/>
              <a:buChar char="•"/>
            </a:pPr>
            <a:r>
              <a:rPr lang="en-IN" sz="1800" dirty="0"/>
              <a:t>After applying the filtering criteria on annotation file, I retained </a:t>
            </a:r>
            <a:r>
              <a:rPr lang="en-IN" sz="1800" b="1" dirty="0"/>
              <a:t>13 animal species</a:t>
            </a:r>
            <a:r>
              <a:rPr lang="en-IN" sz="1800" dirty="0"/>
              <a:t> that had more than 100 image samples and were suitable for my classification task. These included </a:t>
            </a:r>
            <a:r>
              <a:rPr lang="en-IN" sz="1800" b="1" dirty="0"/>
              <a:t>bobcat, opossum, coyote, raccoon, bird, dog, cat, squirrel, rabbit, skunk, rodent, deer and dog.</a:t>
            </a:r>
          </a:p>
        </p:txBody>
      </p:sp>
    </p:spTree>
    <p:extLst>
      <p:ext uri="{BB962C8B-B14F-4D97-AF65-F5344CB8AC3E}">
        <p14:creationId xmlns:p14="http://schemas.microsoft.com/office/powerpoint/2010/main" val="2194167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FADE-5B29-50DE-3A27-5E63F808794D}"/>
              </a:ext>
            </a:extLst>
          </p:cNvPr>
          <p:cNvSpPr>
            <a:spLocks noGrp="1"/>
          </p:cNvSpPr>
          <p:nvPr>
            <p:ph type="ctrTitle"/>
          </p:nvPr>
        </p:nvSpPr>
        <p:spPr>
          <a:xfrm>
            <a:off x="80386" y="-265471"/>
            <a:ext cx="5697415" cy="1032388"/>
          </a:xfrm>
        </p:spPr>
        <p:txBody>
          <a:bodyPr/>
          <a:lstStyle/>
          <a:p>
            <a:r>
              <a:rPr lang="en-IN" b="1" dirty="0"/>
              <a:t>Pre-processing</a:t>
            </a:r>
          </a:p>
        </p:txBody>
      </p:sp>
      <p:sp>
        <p:nvSpPr>
          <p:cNvPr id="3" name="Subtitle 2">
            <a:extLst>
              <a:ext uri="{FF2B5EF4-FFF2-40B4-BE49-F238E27FC236}">
                <a16:creationId xmlns:a16="http://schemas.microsoft.com/office/drawing/2014/main" id="{3B4F1D05-2003-DFF8-2265-0996A5BF774C}"/>
              </a:ext>
            </a:extLst>
          </p:cNvPr>
          <p:cNvSpPr>
            <a:spLocks noGrp="1"/>
          </p:cNvSpPr>
          <p:nvPr>
            <p:ph type="subTitle" idx="1"/>
          </p:nvPr>
        </p:nvSpPr>
        <p:spPr>
          <a:xfrm>
            <a:off x="0" y="766917"/>
            <a:ext cx="7354528" cy="6735096"/>
          </a:xfrm>
        </p:spPr>
        <p:txBody>
          <a:bodyPr>
            <a:normAutofit fontScale="99500"/>
          </a:bodyPr>
          <a:lstStyle/>
          <a:p>
            <a:pPr algn="l"/>
            <a:r>
              <a:rPr lang="en-IN" sz="2000" dirty="0"/>
              <a:t>The pre-processing pipeline performs simple four process to provide essential input to model for appropriate learning. </a:t>
            </a:r>
          </a:p>
          <a:p>
            <a:pPr algn="l"/>
            <a:r>
              <a:rPr lang="en-IN" sz="2000" dirty="0"/>
              <a:t>Those four processes are </a:t>
            </a:r>
            <a:r>
              <a:rPr lang="en-IN" sz="2000" b="1" dirty="0"/>
              <a:t>Image resizing, Bounding-box calculation according to resizing value, pixel normalization and filtering out non-essential categories </a:t>
            </a:r>
            <a:r>
              <a:rPr lang="en-IN" sz="2000" dirty="0"/>
              <a:t>running this across full dataset </a:t>
            </a:r>
          </a:p>
          <a:p>
            <a:pPr algn="l"/>
            <a:endParaRPr lang="en-IN" sz="2000" b="1" dirty="0"/>
          </a:p>
          <a:p>
            <a:pPr marL="457200" indent="-457200" algn="l">
              <a:buAutoNum type="arabicPeriod"/>
            </a:pPr>
            <a:r>
              <a:rPr lang="en-IN" sz="2000" b="1" dirty="0"/>
              <a:t>Image resizing</a:t>
            </a:r>
          </a:p>
          <a:p>
            <a:pPr algn="l"/>
            <a:r>
              <a:rPr lang="en-IN" sz="2000" dirty="0"/>
              <a:t>All 57,864 downloaded images were resized with OpenCV to a common 640 × 640, with scale factors computed from the original annotation-file dimensions (see example, right).</a:t>
            </a:r>
          </a:p>
          <a:p>
            <a:pPr algn="l"/>
            <a:endParaRPr lang="en-IN" sz="2000" dirty="0"/>
          </a:p>
          <a:p>
            <a:pPr algn="l"/>
            <a:r>
              <a:rPr lang="en-IN" sz="2000" b="1" dirty="0"/>
              <a:t>2. Bounding-box adjustment</a:t>
            </a:r>
            <a:endParaRPr lang="en-IN" sz="2000" dirty="0"/>
          </a:p>
          <a:p>
            <a:pPr lvl="0" algn="l"/>
            <a:r>
              <a:rPr lang="en-IN" sz="2000" dirty="0"/>
              <a:t>Each box's </a:t>
            </a:r>
            <a:r>
              <a:rPr lang="en-IN" sz="2000" b="1" dirty="0"/>
              <a:t>x, y, width and height </a:t>
            </a:r>
            <a:r>
              <a:rPr lang="en-IN" sz="2000" dirty="0"/>
              <a:t>were scaled by the same factors, so it still lines up with the animal after resizing.</a:t>
            </a:r>
          </a:p>
          <a:p>
            <a:endParaRPr lang="en-IN" dirty="0"/>
          </a:p>
          <a:p>
            <a:pPr marL="342900" indent="-342900">
              <a:buFont typeface="Arial" panose="020B0604020202020204" pitchFamily="34" charset="0"/>
              <a:buChar char="•"/>
            </a:pPr>
            <a:endParaRPr lang="en-IN" dirty="0"/>
          </a:p>
          <a:p>
            <a:endParaRPr lang="en-IN" dirty="0"/>
          </a:p>
        </p:txBody>
      </p:sp>
      <p:pic>
        <p:nvPicPr>
          <p:cNvPr id="4" name="Picture 3">
            <a:extLst>
              <a:ext uri="{FF2B5EF4-FFF2-40B4-BE49-F238E27FC236}">
                <a16:creationId xmlns:a16="http://schemas.microsoft.com/office/drawing/2014/main" id="{6C1A2B10-9E3D-4F21-8A5C-1D2E3F4A5B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4528" y="-1"/>
            <a:ext cx="4572000" cy="6858000"/>
          </a:xfrm>
          <a:prstGeom prst="rect">
            <a:avLst/>
          </a:prstGeom>
        </p:spPr>
      </p:pic>
    </p:spTree>
    <p:extLst>
      <p:ext uri="{BB962C8B-B14F-4D97-AF65-F5344CB8AC3E}">
        <p14:creationId xmlns:p14="http://schemas.microsoft.com/office/powerpoint/2010/main" val="3327684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652" y="319548"/>
            <a:ext cx="12192000" cy="493019"/>
          </a:xfrm>
        </p:spPr>
        <p:txBody>
          <a:bodyPr wrap="square">
            <a:noAutofit/>
          </a:bodyPr>
          <a:lstStyle/>
          <a:p>
            <a:pPr algn="l"/>
            <a:r>
              <a:rPr lang="en-IN" b="1" dirty="0"/>
              <a:t>Pre-processing — Dataset Preparation</a:t>
            </a:r>
          </a:p>
        </p:txBody>
      </p:sp>
      <p:sp>
        <p:nvSpPr>
          <p:cNvPr id="3" name="Subtitle 2"/>
          <p:cNvSpPr>
            <a:spLocks noGrp="1"/>
          </p:cNvSpPr>
          <p:nvPr>
            <p:ph type="subTitle" idx="1"/>
          </p:nvPr>
        </p:nvSpPr>
        <p:spPr>
          <a:xfrm>
            <a:off x="457200" y="700000"/>
            <a:ext cx="11277600" cy="5838452"/>
          </a:xfrm>
        </p:spPr>
        <p:txBody>
          <a:bodyPr wrap="square">
            <a:noAutofit/>
          </a:bodyPr>
          <a:lstStyle/>
          <a:p>
            <a:pPr algn="l"/>
            <a:endParaRPr lang="en-IN" sz="2200" b="1" dirty="0"/>
          </a:p>
          <a:p>
            <a:pPr algn="l"/>
            <a:r>
              <a:rPr lang="en-IN" sz="2200" b="1" dirty="0"/>
              <a:t>3. Pixel normalisation</a:t>
            </a:r>
            <a:endParaRPr lang="en-IN" sz="2200" dirty="0"/>
          </a:p>
          <a:p>
            <a:pPr lvl="0" algn="l"/>
            <a:r>
              <a:rPr lang="en-IN" sz="2200" dirty="0"/>
              <a:t>Pixel values were normalised from 0–255 to 0–1 by dividing each value by 255.</a:t>
            </a:r>
          </a:p>
          <a:p>
            <a:pPr lvl="0" algn="l"/>
            <a:endParaRPr lang="en-IN" sz="2200" dirty="0"/>
          </a:p>
          <a:p>
            <a:pPr lvl="0" algn="l"/>
            <a:r>
              <a:rPr lang="en-IN" sz="2200" b="1" dirty="0"/>
              <a:t>4. Category filtering &amp; dataset preparation</a:t>
            </a:r>
            <a:endParaRPr lang="en-IN" sz="2200" dirty="0"/>
          </a:p>
          <a:p>
            <a:pPr lvl="0" algn="l"/>
            <a:r>
              <a:rPr lang="en-IN" sz="2200" dirty="0"/>
              <a:t>Categories with more than 100 annotations were retained (excluding ‘empty’ and ‘car’), reducing 20 raw categories to the </a:t>
            </a:r>
            <a:r>
              <a:rPr lang="en-IN" sz="2200" b="1" dirty="0"/>
              <a:t>14 categories</a:t>
            </a:r>
            <a:r>
              <a:rPr lang="en-IN" sz="2200" dirty="0"/>
              <a:t> used for training.</a:t>
            </a:r>
          </a:p>
          <a:p>
            <a:pPr lvl="0" algn="l"/>
            <a:r>
              <a:rPr lang="en-IN" sz="2200" dirty="0"/>
              <a:t>Running this across the full dataset saved </a:t>
            </a:r>
            <a:r>
              <a:rPr lang="en-IN" sz="2200" b="1" dirty="0"/>
              <a:t>42,294 images</a:t>
            </a:r>
            <a:r>
              <a:rPr lang="en-IN" sz="2200" dirty="0"/>
              <a:t> and </a:t>
            </a:r>
            <a:r>
              <a:rPr lang="en-IN" sz="2200" b="1" dirty="0"/>
              <a:t>44,232 boxes</a:t>
            </a:r>
            <a:r>
              <a:rPr lang="en-IN" sz="2200" dirty="0"/>
              <a:t> to disk — full breakdown next slide.</a:t>
            </a:r>
          </a:p>
          <a:p>
            <a:pPr lvl="0" algn="l"/>
            <a:endParaRPr lang="en-IN" sz="2200" dirty="0"/>
          </a:p>
          <a:p>
            <a:pPr algn="l"/>
            <a:r>
              <a:rPr lang="en-IN" sz="2200" b="1" dirty="0"/>
              <a:t>Categories with 100 or fewer annotations (plus ‘empty’ and ‘car’) were dropped, taking the raw annotation file from 20 categories down to the 14 used for training.</a:t>
            </a:r>
          </a:p>
          <a:p>
            <a:pPr algn="l"/>
            <a:r>
              <a:rPr lang="en-IN" sz="2200" dirty="0"/>
              <a:t>The full pipeline was then run end-to-end and the results saved to disk — but a large share of annotated images were never actually downloaded locally, which shows up as a sharp drop for several species below.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326A0-04CD-4288-7C50-8E925FD148E4}"/>
              </a:ext>
            </a:extLst>
          </p:cNvPr>
          <p:cNvSpPr>
            <a:spLocks noGrp="1"/>
          </p:cNvSpPr>
          <p:nvPr>
            <p:ph type="ctrTitle"/>
          </p:nvPr>
        </p:nvSpPr>
        <p:spPr>
          <a:xfrm>
            <a:off x="78658" y="1"/>
            <a:ext cx="6744929" cy="816076"/>
          </a:xfrm>
        </p:spPr>
        <p:txBody>
          <a:bodyPr>
            <a:normAutofit fontScale="90000"/>
          </a:bodyPr>
          <a:lstStyle/>
          <a:p>
            <a:r>
              <a:rPr lang="en-IN" b="1" dirty="0"/>
              <a:t>Depth Map Generation</a:t>
            </a:r>
          </a:p>
        </p:txBody>
      </p:sp>
      <p:sp>
        <p:nvSpPr>
          <p:cNvPr id="3" name="Subtitle 2">
            <a:extLst>
              <a:ext uri="{FF2B5EF4-FFF2-40B4-BE49-F238E27FC236}">
                <a16:creationId xmlns:a16="http://schemas.microsoft.com/office/drawing/2014/main" id="{68C9413D-B629-A5FD-8711-584B8DD5E623}"/>
              </a:ext>
            </a:extLst>
          </p:cNvPr>
          <p:cNvSpPr>
            <a:spLocks noGrp="1"/>
          </p:cNvSpPr>
          <p:nvPr>
            <p:ph type="subTitle" idx="1"/>
          </p:nvPr>
        </p:nvSpPr>
        <p:spPr>
          <a:xfrm>
            <a:off x="0" y="1052053"/>
            <a:ext cx="7295535" cy="5717458"/>
          </a:xfrm>
        </p:spPr>
        <p:txBody>
          <a:bodyPr/>
          <a:lstStyle/>
          <a:p>
            <a:pPr marL="342900" indent="-342900" algn="l">
              <a:buFont typeface="Arial" panose="020B0604020202020204" pitchFamily="34" charset="0"/>
              <a:buChar char="•"/>
            </a:pPr>
            <a:r>
              <a:rPr lang="en-IN" dirty="0"/>
              <a:t>To generate monocular depth information for each RGB  image I have used depth anything v2.</a:t>
            </a:r>
          </a:p>
          <a:p>
            <a:pPr marL="342900" indent="-342900" algn="l">
              <a:buFont typeface="Arial" panose="020B0604020202020204" pitchFamily="34" charset="0"/>
              <a:buChar char="•"/>
            </a:pPr>
            <a:r>
              <a:rPr lang="en-IN" dirty="0"/>
              <a:t>The model was configured to use </a:t>
            </a:r>
            <a:r>
              <a:rPr lang="en-IN" b="1" dirty="0"/>
              <a:t>GPU when available</a:t>
            </a:r>
            <a:r>
              <a:rPr lang="en-IN" dirty="0"/>
              <a:t>, with CPU as a fallback</a:t>
            </a:r>
          </a:p>
          <a:p>
            <a:pPr marL="342900" indent="-342900" algn="l">
              <a:buFont typeface="Arial" panose="020B0604020202020204" pitchFamily="34" charset="0"/>
              <a:buChar char="•"/>
            </a:pPr>
            <a:r>
              <a:rPr lang="en-IN" dirty="0"/>
              <a:t>I have selected randomly 20 images from dataset to test depth map generation, the image shows is one of the example of depth map.</a:t>
            </a:r>
          </a:p>
          <a:p>
            <a:pPr marL="342900" indent="-342900" algn="l">
              <a:buFont typeface="Arial" panose="020B0604020202020204" pitchFamily="34" charset="0"/>
              <a:buChar char="•"/>
            </a:pPr>
            <a:r>
              <a:rPr lang="en-IN" dirty="0"/>
              <a:t>This whole process gets monitored using an processing log to see which images are not processed, skipped and failed images.</a:t>
            </a:r>
          </a:p>
          <a:p>
            <a:pPr marL="342900" indent="-342900" algn="l">
              <a:buFont typeface="Arial" panose="020B0604020202020204" pitchFamily="34" charset="0"/>
              <a:buChar char="•"/>
            </a:pPr>
            <a:r>
              <a:rPr lang="en-IN" dirty="0"/>
              <a:t>The generated depth maps were then </a:t>
            </a:r>
            <a:r>
              <a:rPr lang="en-IN" b="1" dirty="0"/>
              <a:t>resized to 224 × 224</a:t>
            </a:r>
            <a:r>
              <a:rPr lang="en-IN" dirty="0"/>
              <a:t> and </a:t>
            </a:r>
            <a:r>
              <a:rPr lang="en-IN" b="1" dirty="0"/>
              <a:t>normalised to 0–1</a:t>
            </a:r>
            <a:r>
              <a:rPr lang="en-IN" dirty="0"/>
              <a:t>.</a:t>
            </a:r>
          </a:p>
          <a:p>
            <a:pPr marL="342900" indent="-342900" algn="l">
              <a:buFont typeface="Arial" panose="020B0604020202020204" pitchFamily="34" charset="0"/>
              <a:buChar char="•"/>
            </a:pPr>
            <a:r>
              <a:rPr lang="en-IN" dirty="0"/>
              <a:t>Finally, the single-channel depth information was combined with the </a:t>
            </a:r>
            <a:r>
              <a:rPr lang="en-IN" b="1" dirty="0"/>
              <a:t>three RGB channels</a:t>
            </a:r>
            <a:r>
              <a:rPr lang="en-IN" dirty="0"/>
              <a:t>, producing a </a:t>
            </a:r>
            <a:r>
              <a:rPr lang="en-IN" b="1" dirty="0"/>
              <a:t>4-channel RGB-D input</a:t>
            </a:r>
            <a:r>
              <a:rPr lang="en-IN" dirty="0"/>
              <a:t> for the fusion model.</a:t>
            </a:r>
          </a:p>
        </p:txBody>
      </p:sp>
      <p:pic>
        <p:nvPicPr>
          <p:cNvPr id="7" name="Picture 6">
            <a:extLst>
              <a:ext uri="{FF2B5EF4-FFF2-40B4-BE49-F238E27FC236}">
                <a16:creationId xmlns:a16="http://schemas.microsoft.com/office/drawing/2014/main" id="{2FD6A609-6FE2-E06C-74AD-D77A81AE6D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5535" y="0"/>
            <a:ext cx="4572000" cy="6858000"/>
          </a:xfrm>
          <a:prstGeom prst="rect">
            <a:avLst/>
          </a:prstGeom>
        </p:spPr>
      </p:pic>
    </p:spTree>
    <p:extLst>
      <p:ext uri="{BB962C8B-B14F-4D97-AF65-F5344CB8AC3E}">
        <p14:creationId xmlns:p14="http://schemas.microsoft.com/office/powerpoint/2010/main" val="827910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BA009-AFAD-D4C7-F2CA-F4882D537F87}"/>
              </a:ext>
            </a:extLst>
          </p:cNvPr>
          <p:cNvSpPr>
            <a:spLocks noGrp="1"/>
          </p:cNvSpPr>
          <p:nvPr>
            <p:ph type="ctrTitle"/>
          </p:nvPr>
        </p:nvSpPr>
        <p:spPr>
          <a:xfrm>
            <a:off x="2477729" y="-88490"/>
            <a:ext cx="7000568" cy="953576"/>
          </a:xfrm>
        </p:spPr>
        <p:txBody>
          <a:bodyPr/>
          <a:lstStyle/>
          <a:p>
            <a:r>
              <a:rPr lang="en-IN" b="1" dirty="0"/>
              <a:t>Train/Test Split</a:t>
            </a:r>
          </a:p>
        </p:txBody>
      </p:sp>
      <p:sp>
        <p:nvSpPr>
          <p:cNvPr id="3" name="Subtitle 2">
            <a:extLst>
              <a:ext uri="{FF2B5EF4-FFF2-40B4-BE49-F238E27FC236}">
                <a16:creationId xmlns:a16="http://schemas.microsoft.com/office/drawing/2014/main" id="{B86809CD-33DE-D270-AC12-F3BC67728484}"/>
              </a:ext>
            </a:extLst>
          </p:cNvPr>
          <p:cNvSpPr>
            <a:spLocks noGrp="1"/>
          </p:cNvSpPr>
          <p:nvPr>
            <p:ph type="subTitle" idx="1"/>
          </p:nvPr>
        </p:nvSpPr>
        <p:spPr>
          <a:xfrm>
            <a:off x="0" y="953576"/>
            <a:ext cx="12192000" cy="5673366"/>
          </a:xfrm>
        </p:spPr>
        <p:txBody>
          <a:bodyPr/>
          <a:lstStyle/>
          <a:p>
            <a:pPr marL="342900" indent="-342900" algn="l">
              <a:buFont typeface="Arial" panose="020B0604020202020204" pitchFamily="34" charset="0"/>
              <a:buChar char="•"/>
            </a:pPr>
            <a:r>
              <a:rPr lang="en-IN" sz="2600" dirty="0"/>
              <a:t>After pre-processing and depth map generation for  whole images in dataset, next step is to divide whole data into two parts:</a:t>
            </a:r>
          </a:p>
          <a:p>
            <a:pPr marL="342900" indent="-342900" algn="l">
              <a:buFont typeface="Arial" panose="020B0604020202020204" pitchFamily="34" charset="0"/>
              <a:buChar char="•"/>
            </a:pPr>
            <a:endParaRPr lang="en-IN" sz="2600" dirty="0"/>
          </a:p>
          <a:p>
            <a:pPr marL="342900" indent="-342900" algn="l">
              <a:buFont typeface="Arial" panose="020B0604020202020204" pitchFamily="34" charset="0"/>
              <a:buChar char="•"/>
            </a:pPr>
            <a:r>
              <a:rPr lang="en-IN" sz="2600" dirty="0"/>
              <a:t> </a:t>
            </a:r>
            <a:r>
              <a:rPr lang="en-IN" sz="2600" b="1" dirty="0"/>
              <a:t>Train:</a:t>
            </a:r>
            <a:r>
              <a:rPr lang="en-IN" sz="2600" dirty="0"/>
              <a:t> This section contains the data used to train all three models. It is the data through which the models learn, and it consists of </a:t>
            </a:r>
            <a:r>
              <a:rPr lang="en-IN" sz="2600" b="1" dirty="0"/>
              <a:t>80% of the dataset</a:t>
            </a:r>
            <a:r>
              <a:rPr lang="en-IN" sz="2600" dirty="0"/>
              <a:t>.</a:t>
            </a:r>
          </a:p>
          <a:p>
            <a:pPr marL="342900" indent="-342900" algn="l">
              <a:buFont typeface="Arial" panose="020B0604020202020204" pitchFamily="34" charset="0"/>
              <a:buChar char="•"/>
            </a:pPr>
            <a:endParaRPr lang="en-IN" sz="2600" dirty="0"/>
          </a:p>
          <a:p>
            <a:pPr marL="342900" indent="-342900" algn="l">
              <a:buFont typeface="Arial" panose="020B0604020202020204" pitchFamily="34" charset="0"/>
              <a:buChar char="•"/>
            </a:pPr>
            <a:r>
              <a:rPr lang="en-IN" dirty="0"/>
              <a:t> </a:t>
            </a:r>
            <a:r>
              <a:rPr lang="en-IN" b="1" dirty="0"/>
              <a:t>Test: </a:t>
            </a:r>
            <a:r>
              <a:rPr lang="en-IN" dirty="0"/>
              <a:t>This section contains the unseen data used to evaluate all three models. It is kept separate from the training data to measure how well the models perform on new images, and it consists of </a:t>
            </a:r>
            <a:r>
              <a:rPr lang="en-IN" b="1" dirty="0"/>
              <a:t>20% of the dataset</a:t>
            </a:r>
            <a:r>
              <a:rPr lang="en-IN" dirty="0"/>
              <a:t>.</a:t>
            </a:r>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r>
              <a:rPr lang="en-IN" dirty="0"/>
              <a:t> I have used an fixed random seed which provides same training data and testing data to all the models to ensure fair </a:t>
            </a:r>
            <a:r>
              <a:rPr lang="en-IN" dirty="0" err="1"/>
              <a:t>comparision</a:t>
            </a:r>
            <a:r>
              <a:rPr lang="en-IN" dirty="0"/>
              <a:t> across all models.</a:t>
            </a:r>
          </a:p>
          <a:p>
            <a:pPr marL="342900" indent="-342900" algn="l">
              <a:buFont typeface="Arial" panose="020B0604020202020204" pitchFamily="34" charset="0"/>
              <a:buChar char="•"/>
            </a:pPr>
            <a:endParaRPr lang="en-IN" dirty="0"/>
          </a:p>
          <a:p>
            <a:pPr algn="l"/>
            <a:endParaRPr lang="en-IN" dirty="0"/>
          </a:p>
        </p:txBody>
      </p:sp>
    </p:spTree>
    <p:extLst>
      <p:ext uri="{BB962C8B-B14F-4D97-AF65-F5344CB8AC3E}">
        <p14:creationId xmlns:p14="http://schemas.microsoft.com/office/powerpoint/2010/main" val="3323992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42D29-3AA9-CDA5-87C0-CAC391AFD8E0}"/>
              </a:ext>
            </a:extLst>
          </p:cNvPr>
          <p:cNvSpPr>
            <a:spLocks noGrp="1"/>
          </p:cNvSpPr>
          <p:nvPr>
            <p:ph type="ctrTitle"/>
          </p:nvPr>
        </p:nvSpPr>
        <p:spPr>
          <a:xfrm>
            <a:off x="-122903" y="-265470"/>
            <a:ext cx="12192000" cy="1193800"/>
          </a:xfrm>
        </p:spPr>
        <p:txBody>
          <a:bodyPr/>
          <a:lstStyle/>
          <a:p>
            <a:r>
              <a:rPr lang="en-IN" b="1" dirty="0"/>
              <a:t>Model Development</a:t>
            </a:r>
          </a:p>
        </p:txBody>
      </p:sp>
      <p:sp>
        <p:nvSpPr>
          <p:cNvPr id="3" name="Subtitle 2">
            <a:extLst>
              <a:ext uri="{FF2B5EF4-FFF2-40B4-BE49-F238E27FC236}">
                <a16:creationId xmlns:a16="http://schemas.microsoft.com/office/drawing/2014/main" id="{E57E0DE9-E71E-CE2E-DE1D-0FEB9D145AE6}"/>
              </a:ext>
            </a:extLst>
          </p:cNvPr>
          <p:cNvSpPr>
            <a:spLocks noGrp="1"/>
          </p:cNvSpPr>
          <p:nvPr>
            <p:ph type="subTitle" idx="1"/>
          </p:nvPr>
        </p:nvSpPr>
        <p:spPr>
          <a:xfrm>
            <a:off x="0" y="1193800"/>
            <a:ext cx="11946194" cy="5664200"/>
          </a:xfrm>
        </p:spPr>
        <p:txBody>
          <a:bodyPr>
            <a:normAutofit/>
          </a:bodyPr>
          <a:lstStyle/>
          <a:p>
            <a:pPr marL="342900" indent="-342900" algn="l">
              <a:buFont typeface="Arial" panose="020B0604020202020204" pitchFamily="34" charset="0"/>
              <a:buChar char="•"/>
            </a:pPr>
            <a:r>
              <a:rPr lang="en-IN" sz="2800" dirty="0"/>
              <a:t> This next step of this research is to develop machine learning models to investigate the impact of depth information on animal classification </a:t>
            </a:r>
          </a:p>
          <a:p>
            <a:pPr marL="457200" indent="-457200">
              <a:buFont typeface="Arial" panose="020B0604020202020204" pitchFamily="34" charset="0"/>
              <a:buChar char="•"/>
            </a:pPr>
            <a:r>
              <a:rPr lang="en-IN" sz="2800" dirty="0"/>
              <a:t>Three experimental approaches were developed to investigate the effect of depth information on animal classification:</a:t>
            </a:r>
          </a:p>
          <a:p>
            <a:pPr marL="457200" lvl="0" indent="-457200" algn="l">
              <a:buFont typeface="Arial" panose="020B0604020202020204" pitchFamily="34" charset="0"/>
              <a:buChar char="•"/>
            </a:pPr>
            <a:r>
              <a:rPr lang="en-IN" sz="2800" b="1" dirty="0"/>
              <a:t>ResNet50 — RGB Only :</a:t>
            </a:r>
            <a:br>
              <a:rPr lang="en-IN" sz="2800" dirty="0"/>
            </a:br>
            <a:r>
              <a:rPr lang="en-IN" sz="2800" dirty="0"/>
              <a:t>Used as the </a:t>
            </a:r>
            <a:r>
              <a:rPr lang="en-IN" sz="2800" b="1" dirty="0"/>
              <a:t>baseline model</a:t>
            </a:r>
            <a:r>
              <a:rPr lang="en-IN" sz="2800" dirty="0"/>
              <a:t>, using only RGB image information. </a:t>
            </a:r>
          </a:p>
          <a:p>
            <a:pPr marL="457200" lvl="0" indent="-457200" algn="l">
              <a:buFont typeface="Arial" panose="020B0604020202020204" pitchFamily="34" charset="0"/>
              <a:buChar char="•"/>
            </a:pPr>
            <a:r>
              <a:rPr lang="en-IN" sz="2800" b="1" dirty="0"/>
              <a:t>RGB + Depth Fusion :</a:t>
            </a:r>
            <a:br>
              <a:rPr lang="en-IN" sz="2800" dirty="0"/>
            </a:br>
            <a:r>
              <a:rPr lang="en-IN" sz="2800" dirty="0"/>
              <a:t>Combined the </a:t>
            </a:r>
            <a:r>
              <a:rPr lang="en-IN" sz="2800" b="1" dirty="0"/>
              <a:t>three RGB channels with the generated depth channel</a:t>
            </a:r>
            <a:r>
              <a:rPr lang="en-IN" sz="2800" dirty="0"/>
              <a:t> to evaluate whether additional depth information improves classification. </a:t>
            </a:r>
          </a:p>
          <a:p>
            <a:pPr marL="457200" lvl="0" indent="-457200" algn="l">
              <a:buFont typeface="Arial" panose="020B0604020202020204" pitchFamily="34" charset="0"/>
              <a:buChar char="•"/>
            </a:pPr>
            <a:r>
              <a:rPr lang="en-IN" sz="2800" b="1" dirty="0"/>
              <a:t>Siamese Network — RGB + Depth :</a:t>
            </a:r>
            <a:br>
              <a:rPr lang="en-IN" sz="2800" dirty="0"/>
            </a:br>
            <a:r>
              <a:rPr lang="en-IN" sz="2800" dirty="0"/>
              <a:t>Used to learn </a:t>
            </a:r>
            <a:r>
              <a:rPr lang="en-IN" sz="2800" b="1" dirty="0"/>
              <a:t>similarity between animal images</a:t>
            </a:r>
            <a:r>
              <a:rPr lang="en-IN" sz="2800" dirty="0"/>
              <a:t> using the combined RGB-D information.</a:t>
            </a:r>
          </a:p>
          <a:p>
            <a:pPr marL="342900" indent="-342900" algn="l">
              <a:buFont typeface="Arial" panose="020B0604020202020204" pitchFamily="34" charset="0"/>
              <a:buChar char="•"/>
            </a:pPr>
            <a:endParaRPr lang="en-IN" sz="2800" dirty="0"/>
          </a:p>
        </p:txBody>
      </p:sp>
    </p:spTree>
    <p:extLst>
      <p:ext uri="{BB962C8B-B14F-4D97-AF65-F5344CB8AC3E}">
        <p14:creationId xmlns:p14="http://schemas.microsoft.com/office/powerpoint/2010/main" val="1535745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5591"/>
            <a:ext cx="12192000" cy="548640"/>
          </a:xfrm>
        </p:spPr>
        <p:txBody>
          <a:bodyPr wrap="square">
            <a:noAutofit/>
          </a:bodyPr>
          <a:lstStyle/>
          <a:p>
            <a:pPr algn="l"/>
            <a:r>
              <a:rPr lang="en-IN" b="1" dirty="0"/>
              <a:t>          </a:t>
            </a:r>
            <a:r>
              <a:rPr b="1" dirty="0"/>
              <a:t>Model Architecture (UML)</a:t>
            </a:r>
          </a:p>
        </p:txBody>
      </p:sp>
      <p:sp>
        <p:nvSpPr>
          <p:cNvPr id="3" name="Subtitle 2"/>
          <p:cNvSpPr>
            <a:spLocks noGrp="1"/>
          </p:cNvSpPr>
          <p:nvPr>
            <p:ph type="subTitle" idx="1"/>
          </p:nvPr>
        </p:nvSpPr>
        <p:spPr>
          <a:xfrm>
            <a:off x="457200" y="924232"/>
            <a:ext cx="11247120" cy="1302984"/>
          </a:xfrm>
        </p:spPr>
        <p:txBody>
          <a:bodyPr wrap="square">
            <a:noAutofit/>
          </a:bodyPr>
          <a:lstStyle/>
          <a:p>
            <a:pPr algn="l"/>
            <a:r>
              <a:rPr lang="en-IN" sz="1800" b="1" dirty="0"/>
              <a:t>All three models use the same pretrained ResNet50 backbone, with differences in their input channels, output layers, and training objectives. </a:t>
            </a:r>
          </a:p>
          <a:p>
            <a:pPr algn="l"/>
            <a:r>
              <a:rPr lang="en-IN" sz="1800" dirty="0"/>
              <a:t>ResNet50 provides the RGB-only baseline, Fusion combines RGB with depth for classification, while the Siamese network uses RGB-D information for similarity learning.</a:t>
            </a:r>
            <a:endParaRPr sz="1800" b="1" dirty="0"/>
          </a:p>
        </p:txBody>
      </p:sp>
      <p:pic>
        <p:nvPicPr>
          <p:cNvPr id="4" name="Picture 3" descr="uml_diagram.png"/>
          <p:cNvPicPr>
            <a:picLocks noChangeAspect="1"/>
          </p:cNvPicPr>
          <p:nvPr/>
        </p:nvPicPr>
        <p:blipFill>
          <a:blip r:embed="rId2"/>
          <a:stretch>
            <a:fillRect/>
          </a:stretch>
        </p:blipFill>
        <p:spPr>
          <a:xfrm>
            <a:off x="0" y="2227216"/>
            <a:ext cx="12192000" cy="46307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11247120" cy="640080"/>
          </a:xfrm>
        </p:spPr>
        <p:txBody>
          <a:bodyPr wrap="square">
            <a:noAutofit/>
          </a:bodyPr>
          <a:lstStyle/>
          <a:p>
            <a:pPr algn="l"/>
            <a:r>
              <a:rPr b="1" dirty="0"/>
              <a:t>Model 1: ResNet50 (RGB-only)</a:t>
            </a:r>
          </a:p>
        </p:txBody>
      </p:sp>
      <p:sp>
        <p:nvSpPr>
          <p:cNvPr id="3" name="Subtitle 2"/>
          <p:cNvSpPr>
            <a:spLocks noGrp="1"/>
          </p:cNvSpPr>
          <p:nvPr>
            <p:ph type="subTitle" idx="1"/>
          </p:nvPr>
        </p:nvSpPr>
        <p:spPr>
          <a:xfrm>
            <a:off x="457200" y="1071716"/>
            <a:ext cx="11247120" cy="5557684"/>
          </a:xfrm>
        </p:spPr>
        <p:txBody>
          <a:bodyPr wrap="square">
            <a:noAutofit/>
          </a:bodyPr>
          <a:lstStyle/>
          <a:p>
            <a:pPr algn="l"/>
            <a:r>
              <a:rPr dirty="0"/>
              <a:t>For the first model, I used a standard ResNet50 architecture pretrained on ImageNet, since transfer learning helps the model reuse general visual features such as edges, shapes and textures.</a:t>
            </a:r>
            <a:endParaRPr lang="en-IN" dirty="0"/>
          </a:p>
          <a:p>
            <a:pPr algn="l"/>
            <a:endParaRPr dirty="0"/>
          </a:p>
          <a:p>
            <a:pPr algn="l">
              <a:spcBef>
                <a:spcPts val="1000"/>
              </a:spcBef>
            </a:pPr>
            <a:r>
              <a:rPr dirty="0"/>
              <a:t>The model takes a 3-channel RGB image resized to 224 x 224 pixels as input, and I replaced the original classification layer with a fully connected layer of 13 output classes, matching the animal species in my dataset.</a:t>
            </a:r>
            <a:endParaRPr lang="en-IN" dirty="0"/>
          </a:p>
          <a:p>
            <a:pPr algn="l">
              <a:spcBef>
                <a:spcPts val="1000"/>
              </a:spcBef>
            </a:pPr>
            <a:endParaRPr dirty="0"/>
          </a:p>
          <a:p>
            <a:pPr algn="l">
              <a:spcBef>
                <a:spcPts val="1000"/>
              </a:spcBef>
            </a:pPr>
            <a:r>
              <a:rPr dirty="0"/>
              <a:t>I trained this model using Cross-Entropy Loss with the Adam optimizer, a learning rate of 0.0001, a batch size of 32, for 5 epochs.</a:t>
            </a:r>
            <a:endParaRPr lang="en-IN" dirty="0"/>
          </a:p>
          <a:p>
            <a:pPr algn="l">
              <a:spcBef>
                <a:spcPts val="1000"/>
              </a:spcBef>
            </a:pPr>
            <a:endParaRPr dirty="0"/>
          </a:p>
          <a:p>
            <a:pPr algn="l">
              <a:spcBef>
                <a:spcPts val="1000"/>
              </a:spcBef>
            </a:pPr>
            <a:r>
              <a:rPr dirty="0"/>
              <a:t>This model acts as my baseline, giving me a reference point to compare against the depth-fusion and Siamese approaches.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6675120" cy="640080"/>
          </a:xfrm>
        </p:spPr>
        <p:txBody>
          <a:bodyPr wrap="square">
            <a:noAutofit/>
          </a:bodyPr>
          <a:lstStyle/>
          <a:p>
            <a:pPr algn="l"/>
            <a:r>
              <a:rPr b="1" dirty="0"/>
              <a:t>ResNet50 Results</a:t>
            </a:r>
          </a:p>
        </p:txBody>
      </p:sp>
      <p:sp>
        <p:nvSpPr>
          <p:cNvPr id="3" name="Subtitle 2"/>
          <p:cNvSpPr>
            <a:spLocks noGrp="1"/>
          </p:cNvSpPr>
          <p:nvPr>
            <p:ph type="subTitle" idx="1"/>
          </p:nvPr>
        </p:nvSpPr>
        <p:spPr>
          <a:xfrm>
            <a:off x="0" y="960120"/>
            <a:ext cx="6174658" cy="5669280"/>
          </a:xfrm>
        </p:spPr>
        <p:txBody>
          <a:bodyPr wrap="square">
            <a:noAutofit/>
          </a:bodyPr>
          <a:lstStyle/>
          <a:p>
            <a:pPr marL="285750" indent="-285750" algn="l">
              <a:buFont typeface="Arial" panose="020B0604020202020204" pitchFamily="34" charset="0"/>
              <a:buChar char="•"/>
            </a:pPr>
            <a:r>
              <a:rPr dirty="0"/>
              <a:t>After training, the RGB-only ResNet50 achieved an accuracy of </a:t>
            </a:r>
            <a:r>
              <a:rPr b="1" dirty="0"/>
              <a:t>94.05%</a:t>
            </a:r>
            <a:r>
              <a:rPr dirty="0"/>
              <a:t> on the fixed seeded test set of </a:t>
            </a:r>
            <a:r>
              <a:rPr b="1" dirty="0"/>
              <a:t>8,847</a:t>
            </a:r>
            <a:r>
              <a:rPr dirty="0"/>
              <a:t> images.</a:t>
            </a:r>
          </a:p>
          <a:p>
            <a:pPr marL="285750" indent="-285750" algn="l">
              <a:spcBef>
                <a:spcPts val="1000"/>
              </a:spcBef>
              <a:buFont typeface="Arial" panose="020B0604020202020204" pitchFamily="34" charset="0"/>
              <a:buChar char="•"/>
            </a:pPr>
            <a:r>
              <a:rPr dirty="0"/>
              <a:t>The macro-average F1-score was </a:t>
            </a:r>
            <a:r>
              <a:rPr b="1" dirty="0"/>
              <a:t>0.86</a:t>
            </a:r>
            <a:r>
              <a:rPr dirty="0"/>
              <a:t> while the weighted-average F1-score was </a:t>
            </a:r>
            <a:r>
              <a:rPr b="1" dirty="0"/>
              <a:t>0.94</a:t>
            </a:r>
            <a:r>
              <a:rPr dirty="0"/>
              <a:t>. This gap shows that species with fewer samples were classified less effectively, confirming the effect of class imbalance in the dataset.</a:t>
            </a:r>
          </a:p>
          <a:p>
            <a:pPr marL="285750" indent="-285750" algn="l">
              <a:spcBef>
                <a:spcPts val="1000"/>
              </a:spcBef>
              <a:buFont typeface="Arial" panose="020B0604020202020204" pitchFamily="34" charset="0"/>
              <a:buChar char="•"/>
            </a:pPr>
            <a:r>
              <a:rPr dirty="0"/>
              <a:t>Opossum and raccoon achieved the highest F1-scores of</a:t>
            </a:r>
            <a:r>
              <a:rPr b="1" dirty="0"/>
              <a:t> 0.97</a:t>
            </a:r>
            <a:r>
              <a:rPr dirty="0"/>
              <a:t>, while fox scored </a:t>
            </a:r>
            <a:r>
              <a:rPr b="1" dirty="0"/>
              <a:t>0.00</a:t>
            </a:r>
            <a:r>
              <a:rPr dirty="0"/>
              <a:t> because it only had one test sample.</a:t>
            </a:r>
          </a:p>
          <a:p>
            <a:pPr marL="285750" indent="-285750" algn="l">
              <a:spcBef>
                <a:spcPts val="1000"/>
              </a:spcBef>
              <a:buFont typeface="Arial" panose="020B0604020202020204" pitchFamily="34" charset="0"/>
              <a:buChar char="•"/>
            </a:pPr>
            <a:r>
              <a:rPr dirty="0"/>
              <a:t>Bobcat and coyote were the most confused pair, with </a:t>
            </a:r>
            <a:r>
              <a:rPr b="1" dirty="0"/>
              <a:t>97</a:t>
            </a:r>
            <a:r>
              <a:rPr dirty="0"/>
              <a:t> bobcat images misclassified as coyote, since both species have similar body structure and </a:t>
            </a:r>
            <a:r>
              <a:rPr dirty="0" err="1"/>
              <a:t>colouring</a:t>
            </a:r>
            <a:r>
              <a:rPr dirty="0"/>
              <a:t>.</a:t>
            </a:r>
          </a:p>
        </p:txBody>
      </p:sp>
      <p:pic>
        <p:nvPicPr>
          <p:cNvPr id="4" name="Picture 3" descr="resnet_cm.png"/>
          <p:cNvPicPr>
            <a:picLocks noChangeAspect="1"/>
          </p:cNvPicPr>
          <p:nvPr/>
        </p:nvPicPr>
        <p:blipFill>
          <a:blip r:embed="rId2"/>
          <a:stretch>
            <a:fillRect/>
          </a:stretch>
        </p:blipFill>
        <p:spPr>
          <a:xfrm>
            <a:off x="6017343" y="0"/>
            <a:ext cx="6174658"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88490"/>
            <a:ext cx="9006348" cy="698091"/>
          </a:xfrm>
        </p:spPr>
        <p:txBody>
          <a:bodyPr wrap="square">
            <a:noAutofit/>
          </a:bodyPr>
          <a:lstStyle/>
          <a:p>
            <a:pPr algn="l"/>
            <a:r>
              <a:rPr b="1" dirty="0"/>
              <a:t>Model 2: RGB + Depth Fusion</a:t>
            </a:r>
          </a:p>
        </p:txBody>
      </p:sp>
      <p:sp>
        <p:nvSpPr>
          <p:cNvPr id="3" name="Subtitle 2"/>
          <p:cNvSpPr>
            <a:spLocks noGrp="1"/>
          </p:cNvSpPr>
          <p:nvPr>
            <p:ph type="subTitle" idx="1"/>
          </p:nvPr>
        </p:nvSpPr>
        <p:spPr>
          <a:xfrm>
            <a:off x="-1" y="786581"/>
            <a:ext cx="12191999" cy="5683045"/>
          </a:xfrm>
        </p:spPr>
        <p:txBody>
          <a:bodyPr wrap="square">
            <a:noAutofit/>
          </a:bodyPr>
          <a:lstStyle/>
          <a:p>
            <a:pPr marL="285750" indent="-285750" algn="l">
              <a:buFont typeface="Arial" panose="020B0604020202020204" pitchFamily="34" charset="0"/>
              <a:buChar char="•"/>
            </a:pPr>
            <a:r>
              <a:rPr dirty="0"/>
              <a:t>The second model uses the same ResNet50 backbone, but I modified the first convolutional layer (conv1) to accept 4 input channels instead of 3, adding a depth channel alongside the original RGB channels.</a:t>
            </a:r>
            <a:endParaRPr lang="en-IN" dirty="0"/>
          </a:p>
          <a:p>
            <a:pPr marL="285750" indent="-285750" algn="l">
              <a:buFont typeface="Arial" panose="020B0604020202020204" pitchFamily="34" charset="0"/>
              <a:buChar char="•"/>
            </a:pPr>
            <a:endParaRPr dirty="0"/>
          </a:p>
          <a:p>
            <a:pPr marL="285750" indent="-285750" algn="l">
              <a:spcBef>
                <a:spcPts val="1000"/>
              </a:spcBef>
              <a:buFont typeface="Arial" panose="020B0604020202020204" pitchFamily="34" charset="0"/>
              <a:buChar char="•"/>
            </a:pPr>
            <a:r>
              <a:rPr dirty="0"/>
              <a:t>The pretrained RGB weights were kept unchanged for the first three channels, and I </a:t>
            </a:r>
            <a:r>
              <a:rPr dirty="0" err="1"/>
              <a:t>initialised</a:t>
            </a:r>
            <a:r>
              <a:rPr dirty="0"/>
              <a:t> the new depth channel using the weights from the red channel, since there is no pretrained depth-specific weight available.</a:t>
            </a:r>
            <a:endParaRPr lang="en-IN" dirty="0"/>
          </a:p>
          <a:p>
            <a:pPr marL="285750" indent="-285750" algn="l">
              <a:spcBef>
                <a:spcPts val="1000"/>
              </a:spcBef>
              <a:buFont typeface="Arial" panose="020B0604020202020204" pitchFamily="34" charset="0"/>
              <a:buChar char="•"/>
            </a:pPr>
            <a:endParaRPr dirty="0"/>
          </a:p>
          <a:p>
            <a:pPr marL="285750" indent="-285750" algn="l">
              <a:spcBef>
                <a:spcPts val="1000"/>
              </a:spcBef>
              <a:buFont typeface="Arial" panose="020B0604020202020204" pitchFamily="34" charset="0"/>
              <a:buChar char="•"/>
            </a:pPr>
            <a:r>
              <a:rPr dirty="0"/>
              <a:t>The depth information for each image was generated using Depth Anything V2, and combined with the RGB channels before being passed to the model.</a:t>
            </a:r>
            <a:endParaRPr lang="en-IN" dirty="0"/>
          </a:p>
          <a:p>
            <a:pPr marL="285750" indent="-285750" algn="l">
              <a:spcBef>
                <a:spcPts val="1000"/>
              </a:spcBef>
              <a:buFont typeface="Arial" panose="020B0604020202020204" pitchFamily="34" charset="0"/>
              <a:buChar char="•"/>
            </a:pPr>
            <a:endParaRPr dirty="0"/>
          </a:p>
          <a:p>
            <a:pPr marL="285750" indent="-285750" algn="l">
              <a:spcBef>
                <a:spcPts val="1000"/>
              </a:spcBef>
              <a:buFont typeface="Arial" panose="020B0604020202020204" pitchFamily="34" charset="0"/>
              <a:buChar char="•"/>
            </a:pPr>
            <a:r>
              <a:rPr dirty="0"/>
              <a:t>This model was trained with the same settings as the RGB baseline: Cross-Entropy Loss, Adam optimizer, learning rate 0.0001, batch size 32, for 5 epochs.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6675120" cy="640080"/>
          </a:xfrm>
        </p:spPr>
        <p:txBody>
          <a:bodyPr wrap="square">
            <a:noAutofit/>
          </a:bodyPr>
          <a:lstStyle/>
          <a:p>
            <a:pPr algn="l"/>
            <a:r>
              <a:rPr b="1" dirty="0"/>
              <a:t>Fusion Model Results</a:t>
            </a:r>
          </a:p>
        </p:txBody>
      </p:sp>
      <p:sp>
        <p:nvSpPr>
          <p:cNvPr id="3" name="Subtitle 2"/>
          <p:cNvSpPr>
            <a:spLocks noGrp="1"/>
          </p:cNvSpPr>
          <p:nvPr>
            <p:ph type="subTitle" idx="1"/>
          </p:nvPr>
        </p:nvSpPr>
        <p:spPr>
          <a:xfrm>
            <a:off x="0" y="960120"/>
            <a:ext cx="6675120" cy="5669280"/>
          </a:xfrm>
        </p:spPr>
        <p:txBody>
          <a:bodyPr wrap="square">
            <a:noAutofit/>
          </a:bodyPr>
          <a:lstStyle/>
          <a:p>
            <a:pPr marL="285750" indent="-285750" algn="l">
              <a:buFont typeface="Arial" panose="020B0604020202020204" pitchFamily="34" charset="0"/>
              <a:buChar char="•"/>
            </a:pPr>
            <a:r>
              <a:rPr dirty="0"/>
              <a:t>The </a:t>
            </a:r>
            <a:r>
              <a:rPr dirty="0" err="1"/>
              <a:t>RGB+Depth</a:t>
            </a:r>
            <a:r>
              <a:rPr dirty="0"/>
              <a:t> fusion model achieved an accuracy of 94% on the same test set, almost identical to the RGB-only baseline of 94.05%.</a:t>
            </a:r>
            <a:endParaRPr lang="en-IN" dirty="0"/>
          </a:p>
          <a:p>
            <a:pPr marL="285750" indent="-285750" algn="l">
              <a:buFont typeface="Arial" panose="020B0604020202020204" pitchFamily="34" charset="0"/>
              <a:buChar char="•"/>
            </a:pPr>
            <a:endParaRPr dirty="0"/>
          </a:p>
          <a:p>
            <a:pPr marL="285750" indent="-285750" algn="l">
              <a:spcBef>
                <a:spcPts val="1000"/>
              </a:spcBef>
              <a:buFont typeface="Arial" panose="020B0604020202020204" pitchFamily="34" charset="0"/>
              <a:buChar char="•"/>
            </a:pPr>
            <a:r>
              <a:rPr dirty="0"/>
              <a:t>The training loss dropped steadily across the 5 epochs, from 0.5311 to 0.0762, showing that the model was learning properly throughout training.</a:t>
            </a:r>
            <a:endParaRPr lang="en-IN" dirty="0"/>
          </a:p>
          <a:p>
            <a:pPr marL="285750" indent="-285750" algn="l">
              <a:spcBef>
                <a:spcPts val="1000"/>
              </a:spcBef>
              <a:buFont typeface="Arial" panose="020B0604020202020204" pitchFamily="34" charset="0"/>
              <a:buChar char="•"/>
            </a:pPr>
            <a:endParaRPr dirty="0"/>
          </a:p>
          <a:p>
            <a:pPr marL="285750" indent="-285750" algn="l">
              <a:spcBef>
                <a:spcPts val="1000"/>
              </a:spcBef>
              <a:buFont typeface="Arial" panose="020B0604020202020204" pitchFamily="34" charset="0"/>
              <a:buChar char="•"/>
            </a:pPr>
            <a:r>
              <a:rPr dirty="0"/>
              <a:t>Looking only at overall accuracy, adding depth information does not appear to make a meaningful difference. However, the per-class F1-score comparison tells a more detailed story</a:t>
            </a:r>
            <a:r>
              <a:rPr sz="1600" dirty="0"/>
              <a:t>.</a:t>
            </a:r>
          </a:p>
        </p:txBody>
      </p:sp>
      <p:pic>
        <p:nvPicPr>
          <p:cNvPr id="8" name="Picture 7">
            <a:extLst>
              <a:ext uri="{FF2B5EF4-FFF2-40B4-BE49-F238E27FC236}">
                <a16:creationId xmlns:a16="http://schemas.microsoft.com/office/drawing/2014/main" id="{49887209-63D8-5B73-FD0F-F1F22345CD9A}"/>
              </a:ext>
            </a:extLst>
          </p:cNvPr>
          <p:cNvPicPr>
            <a:picLocks noChangeAspect="1"/>
          </p:cNvPicPr>
          <p:nvPr/>
        </p:nvPicPr>
        <p:blipFill>
          <a:blip r:embed="rId2"/>
          <a:stretch>
            <a:fillRect/>
          </a:stretch>
        </p:blipFill>
        <p:spPr>
          <a:xfrm>
            <a:off x="6538452" y="720213"/>
            <a:ext cx="5653548" cy="56692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9549" y="0"/>
            <a:ext cx="11247120" cy="760525"/>
          </a:xfrm>
        </p:spPr>
        <p:txBody>
          <a:bodyPr wrap="square">
            <a:noAutofit/>
          </a:bodyPr>
          <a:lstStyle/>
          <a:p>
            <a:pPr algn="l"/>
            <a:r>
              <a:rPr b="1" dirty="0"/>
              <a:t>RGB vs Fusion: The Real Finding</a:t>
            </a:r>
          </a:p>
        </p:txBody>
      </p:sp>
      <p:sp>
        <p:nvSpPr>
          <p:cNvPr id="3" name="Subtitle 2"/>
          <p:cNvSpPr>
            <a:spLocks noGrp="1"/>
          </p:cNvSpPr>
          <p:nvPr>
            <p:ph type="subTitle" idx="1"/>
          </p:nvPr>
        </p:nvSpPr>
        <p:spPr>
          <a:xfrm>
            <a:off x="113070" y="1016165"/>
            <a:ext cx="11247120" cy="6097474"/>
          </a:xfrm>
        </p:spPr>
        <p:txBody>
          <a:bodyPr wrap="square">
            <a:noAutofit/>
          </a:bodyPr>
          <a:lstStyle/>
          <a:p>
            <a:pPr marL="342900" indent="-342900" algn="l">
              <a:buFont typeface="Arial" panose="020B0604020202020204" pitchFamily="34" charset="0"/>
              <a:buChar char="•"/>
            </a:pPr>
            <a:r>
              <a:rPr sz="2000" dirty="0"/>
              <a:t>When I compared both models species by species, depth information improved the F1-score for 4 out of 13 classes: bobcat, dog, coyote and rodent, with the biggest improvement of +0.04 for rodent.</a:t>
            </a:r>
            <a:endParaRPr lang="en-IN" sz="2000" dirty="0"/>
          </a:p>
          <a:p>
            <a:pPr marL="342900" indent="-342900" algn="l">
              <a:buFont typeface="Arial" panose="020B0604020202020204" pitchFamily="34" charset="0"/>
              <a:buChar char="•"/>
            </a:pPr>
            <a:endParaRPr sz="2000" dirty="0"/>
          </a:p>
          <a:p>
            <a:pPr marL="342900" indent="-342900" algn="l">
              <a:spcBef>
                <a:spcPts val="1000"/>
              </a:spcBef>
              <a:buFont typeface="Arial" panose="020B0604020202020204" pitchFamily="34" charset="0"/>
              <a:buChar char="•"/>
            </a:pPr>
            <a:r>
              <a:rPr sz="2000" dirty="0"/>
              <a:t>For most other classes, RGB-only performed marginally better, usually by only 0.01 to 0.03.</a:t>
            </a:r>
            <a:endParaRPr lang="en-IN" sz="2000" dirty="0"/>
          </a:p>
          <a:p>
            <a:pPr marL="342900" indent="-342900" algn="l">
              <a:spcBef>
                <a:spcPts val="1000"/>
              </a:spcBef>
              <a:buFont typeface="Arial" panose="020B0604020202020204" pitchFamily="34" charset="0"/>
              <a:buChar char="•"/>
            </a:pPr>
            <a:endParaRPr sz="2000" dirty="0"/>
          </a:p>
          <a:p>
            <a:pPr marL="342900" indent="-342900" algn="l">
              <a:spcBef>
                <a:spcPts val="1000"/>
              </a:spcBef>
              <a:buFont typeface="Arial" panose="020B0604020202020204" pitchFamily="34" charset="0"/>
              <a:buChar char="•"/>
            </a:pPr>
            <a:r>
              <a:rPr sz="2000" dirty="0"/>
              <a:t>Both models completely failed on fox, scoring 0.00 F1, because there was only 1 test sample for this class. This is a dataset limitation, not a weakness of either model architecture.</a:t>
            </a:r>
            <a:endParaRPr lang="en-IN" sz="2000" dirty="0"/>
          </a:p>
          <a:p>
            <a:pPr marL="342900" indent="-342900" algn="l">
              <a:spcBef>
                <a:spcPts val="1000"/>
              </a:spcBef>
              <a:buFont typeface="Arial" panose="020B0604020202020204" pitchFamily="34" charset="0"/>
              <a:buChar char="•"/>
            </a:pPr>
            <a:endParaRPr sz="2000" dirty="0"/>
          </a:p>
          <a:p>
            <a:pPr marL="342900" indent="-342900" algn="l">
              <a:spcBef>
                <a:spcPts val="1000"/>
              </a:spcBef>
              <a:buFont typeface="Arial" panose="020B0604020202020204" pitchFamily="34" charset="0"/>
              <a:buChar char="•"/>
            </a:pPr>
            <a:r>
              <a:rPr sz="2000" dirty="0"/>
              <a:t>My overall conclusion is that synthetic depth information does not improve the aggregate classification accuracy, but it does carry some useful, species-specific signal, particularly for animals with similar </a:t>
            </a:r>
            <a:r>
              <a:rPr sz="2000" dirty="0" err="1"/>
              <a:t>colouring</a:t>
            </a:r>
            <a:r>
              <a:rPr sz="2000" dirty="0"/>
              <a:t> but different body shapes, such as bobcat and coyote.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1_comparison_chart.png">
            <a:extLst>
              <a:ext uri="{FF2B5EF4-FFF2-40B4-BE49-F238E27FC236}">
                <a16:creationId xmlns:a16="http://schemas.microsoft.com/office/drawing/2014/main" id="{F3831264-FBB6-1873-A1BD-0B31CA6DAC47}"/>
              </a:ext>
            </a:extLst>
          </p:cNvPr>
          <p:cNvPicPr>
            <a:picLocks noGrp="1" noChangeAspect="1"/>
          </p:cNvPicPr>
          <p:nvPr>
            <p:ph sz="quarter" idx="13"/>
          </p:nvPr>
        </p:nvPicPr>
        <p:blipFill>
          <a:blip r:embed="rId2"/>
          <a:stretch>
            <a:fillRect/>
          </a:stretch>
        </p:blipFill>
        <p:spPr>
          <a:xfrm>
            <a:off x="269606" y="1212308"/>
            <a:ext cx="11735581" cy="5508352"/>
          </a:xfrm>
          <a:prstGeom prst="rect">
            <a:avLst/>
          </a:prstGeom>
        </p:spPr>
      </p:pic>
      <p:sp>
        <p:nvSpPr>
          <p:cNvPr id="6" name="TextBox 5">
            <a:extLst>
              <a:ext uri="{FF2B5EF4-FFF2-40B4-BE49-F238E27FC236}">
                <a16:creationId xmlns:a16="http://schemas.microsoft.com/office/drawing/2014/main" id="{75ECE3D0-5FD3-A6AF-D2C4-57AD492B1E6D}"/>
              </a:ext>
            </a:extLst>
          </p:cNvPr>
          <p:cNvSpPr txBox="1"/>
          <p:nvPr/>
        </p:nvSpPr>
        <p:spPr>
          <a:xfrm>
            <a:off x="269606" y="0"/>
            <a:ext cx="11135812" cy="1015663"/>
          </a:xfrm>
          <a:prstGeom prst="rect">
            <a:avLst/>
          </a:prstGeom>
          <a:noFill/>
        </p:spPr>
        <p:txBody>
          <a:bodyPr wrap="square" rtlCol="0">
            <a:spAutoFit/>
          </a:bodyPr>
          <a:lstStyle/>
          <a:p>
            <a:r>
              <a:rPr lang="en-IN" sz="6000" dirty="0"/>
              <a:t>F1-Score </a:t>
            </a:r>
            <a:r>
              <a:rPr lang="en-IN" sz="6000" dirty="0" err="1"/>
              <a:t>Comparision</a:t>
            </a:r>
            <a:endParaRPr lang="en-IN" sz="6000" dirty="0"/>
          </a:p>
        </p:txBody>
      </p:sp>
    </p:spTree>
    <p:extLst>
      <p:ext uri="{BB962C8B-B14F-4D97-AF65-F5344CB8AC3E}">
        <p14:creationId xmlns:p14="http://schemas.microsoft.com/office/powerpoint/2010/main" val="727384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0052" y="1103671"/>
            <a:ext cx="11247120" cy="640080"/>
          </a:xfrm>
        </p:spPr>
        <p:txBody>
          <a:bodyPr wrap="square">
            <a:noAutofit/>
          </a:bodyPr>
          <a:lstStyle/>
          <a:p>
            <a:pPr algn="l"/>
            <a:r>
              <a:rPr b="1" dirty="0"/>
              <a:t>Model 3: Siamese Verification Network</a:t>
            </a:r>
          </a:p>
        </p:txBody>
      </p:sp>
      <p:sp>
        <p:nvSpPr>
          <p:cNvPr id="3" name="Subtitle 2"/>
          <p:cNvSpPr>
            <a:spLocks noGrp="1"/>
          </p:cNvSpPr>
          <p:nvPr>
            <p:ph type="subTitle" idx="1"/>
          </p:nvPr>
        </p:nvSpPr>
        <p:spPr>
          <a:xfrm>
            <a:off x="147484" y="1743751"/>
            <a:ext cx="11389688" cy="7088075"/>
          </a:xfrm>
        </p:spPr>
        <p:txBody>
          <a:bodyPr wrap="square">
            <a:noAutofit/>
          </a:bodyPr>
          <a:lstStyle/>
          <a:p>
            <a:pPr marL="342900" indent="-342900" algn="l">
              <a:buFont typeface="Arial" panose="020B0604020202020204" pitchFamily="34" charset="0"/>
              <a:buChar char="•"/>
            </a:pPr>
            <a:r>
              <a:rPr dirty="0"/>
              <a:t>My original proposal included individual animal re-identification, but the CCT20 dataset does not provide individual identity labels, only species-level labels. After discussing this limitation with my supervisor, I changed my methodology to species-level similarity verification instead.</a:t>
            </a:r>
          </a:p>
          <a:p>
            <a:pPr marL="342900" indent="-342900" algn="l">
              <a:spcBef>
                <a:spcPts val="1000"/>
              </a:spcBef>
              <a:buFont typeface="Arial" panose="020B0604020202020204" pitchFamily="34" charset="0"/>
              <a:buChar char="•"/>
            </a:pPr>
            <a:r>
              <a:rPr dirty="0"/>
              <a:t>This model uses the same 4-channel ResNet50 backbone as the fusion model, but the final layer is replaced with a 128-dimensional embedding output, which is L2-normalised.</a:t>
            </a:r>
          </a:p>
          <a:p>
            <a:pPr marL="342900" indent="-342900" algn="l">
              <a:spcBef>
                <a:spcPts val="1000"/>
              </a:spcBef>
              <a:buFont typeface="Arial" panose="020B0604020202020204" pitchFamily="34" charset="0"/>
              <a:buChar char="•"/>
            </a:pPr>
            <a:r>
              <a:rPr dirty="0"/>
              <a:t>I trained this model using Triplet Margin Loss with a margin of 1.0, where each training sample is a triplet: an anchor image, a positive image from the same species, and a negative image from a different species.</a:t>
            </a:r>
          </a:p>
          <a:p>
            <a:pPr marL="342900" indent="-342900" algn="l">
              <a:spcBef>
                <a:spcPts val="1000"/>
              </a:spcBef>
              <a:buFont typeface="Arial" panose="020B0604020202020204" pitchFamily="34" charset="0"/>
              <a:buChar char="•"/>
            </a:pPr>
            <a:r>
              <a:rPr dirty="0"/>
              <a:t>The goal is to bring the anchor and positive embeddings closer together, while pushing the anchor and negative embeddings further apart, allowing the model to learn species-level similarity instead of a fixed label.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7414" y="1126285"/>
            <a:ext cx="6675120" cy="640080"/>
          </a:xfrm>
        </p:spPr>
        <p:txBody>
          <a:bodyPr wrap="square">
            <a:noAutofit/>
          </a:bodyPr>
          <a:lstStyle/>
          <a:p>
            <a:pPr algn="l"/>
            <a:r>
              <a:rPr b="1" dirty="0"/>
              <a:t>Siamese Network Results</a:t>
            </a:r>
          </a:p>
        </p:txBody>
      </p:sp>
      <p:sp>
        <p:nvSpPr>
          <p:cNvPr id="3" name="Subtitle 2"/>
          <p:cNvSpPr>
            <a:spLocks noGrp="1"/>
          </p:cNvSpPr>
          <p:nvPr>
            <p:ph type="subTitle" idx="1"/>
          </p:nvPr>
        </p:nvSpPr>
        <p:spPr>
          <a:xfrm>
            <a:off x="0" y="1697539"/>
            <a:ext cx="6675120" cy="5669280"/>
          </a:xfrm>
        </p:spPr>
        <p:txBody>
          <a:bodyPr wrap="square">
            <a:noAutofit/>
          </a:bodyPr>
          <a:lstStyle/>
          <a:p>
            <a:pPr marL="342900" indent="-342900" algn="l">
              <a:buFont typeface="Arial" panose="020B0604020202020204" pitchFamily="34" charset="0"/>
              <a:buChar char="•"/>
            </a:pPr>
            <a:r>
              <a:rPr sz="2200" dirty="0"/>
              <a:t>I evaluated this model in two different ways. Using relative ranking, where I check whether the same-species image is closer than the different-species image within each triplet, the model achieved 78.14% accuracy.</a:t>
            </a:r>
          </a:p>
          <a:p>
            <a:pPr marL="342900" indent="-342900" algn="l">
              <a:spcBef>
                <a:spcPts val="1000"/>
              </a:spcBef>
              <a:buFont typeface="Arial" panose="020B0604020202020204" pitchFamily="34" charset="0"/>
              <a:buChar char="•"/>
            </a:pPr>
            <a:r>
              <a:rPr sz="2200" dirty="0"/>
              <a:t>Using a fixed distance threshold instead, where each pair is judged independently, the model achieved 72% accuracy.</a:t>
            </a:r>
          </a:p>
          <a:p>
            <a:pPr marL="342900" indent="-342900" algn="l">
              <a:spcBef>
                <a:spcPts val="1000"/>
              </a:spcBef>
              <a:buFont typeface="Arial" panose="020B0604020202020204" pitchFamily="34" charset="0"/>
              <a:buChar char="•"/>
            </a:pPr>
            <a:r>
              <a:rPr sz="2200" dirty="0"/>
              <a:t>The average distance between same-species embeddings was 0.4331, while different-species embeddings averaged 0.9201, showing a clear, healthy separation between the two groups.</a:t>
            </a:r>
          </a:p>
          <a:p>
            <a:pPr marL="342900" indent="-342900" algn="l">
              <a:spcBef>
                <a:spcPts val="1000"/>
              </a:spcBef>
              <a:buFont typeface="Arial" panose="020B0604020202020204" pitchFamily="34" charset="0"/>
              <a:buChar char="•"/>
            </a:pPr>
            <a:r>
              <a:rPr sz="2200" dirty="0"/>
              <a:t>This confirms the model has genuinely learned meaningful species-similarity structure, even though this task is harder than direct 13-class classification.</a:t>
            </a:r>
          </a:p>
        </p:txBody>
      </p:sp>
      <p:pic>
        <p:nvPicPr>
          <p:cNvPr id="4" name="Picture 3" descr="distance_separation.png"/>
          <p:cNvPicPr>
            <a:picLocks noChangeAspect="1"/>
          </p:cNvPicPr>
          <p:nvPr/>
        </p:nvPicPr>
        <p:blipFill>
          <a:blip r:embed="rId2"/>
          <a:stretch>
            <a:fillRect/>
          </a:stretch>
        </p:blipFill>
        <p:spPr>
          <a:xfrm>
            <a:off x="6872748" y="960119"/>
            <a:ext cx="5230762" cy="510638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260987"/>
            <a:ext cx="6675120" cy="420329"/>
          </a:xfrm>
        </p:spPr>
        <p:txBody>
          <a:bodyPr wrap="square">
            <a:noAutofit/>
          </a:bodyPr>
          <a:lstStyle/>
          <a:p>
            <a:pPr algn="l"/>
            <a:r>
              <a:rPr b="1" dirty="0"/>
              <a:t>Siamese Verification — Confusion Matrix</a:t>
            </a:r>
          </a:p>
        </p:txBody>
      </p:sp>
      <p:sp>
        <p:nvSpPr>
          <p:cNvPr id="3" name="Subtitle 2"/>
          <p:cNvSpPr>
            <a:spLocks noGrp="1"/>
          </p:cNvSpPr>
          <p:nvPr>
            <p:ph type="subTitle" idx="1"/>
          </p:nvPr>
        </p:nvSpPr>
        <p:spPr>
          <a:xfrm>
            <a:off x="93407" y="1692376"/>
            <a:ext cx="6675120" cy="3473245"/>
          </a:xfrm>
        </p:spPr>
        <p:txBody>
          <a:bodyPr wrap="square">
            <a:noAutofit/>
          </a:bodyPr>
          <a:lstStyle/>
          <a:p>
            <a:pPr marL="285750" indent="-285750" algn="l">
              <a:buFont typeface="Arial" panose="020B0604020202020204" pitchFamily="34" charset="0"/>
              <a:buChar char="•"/>
            </a:pPr>
            <a:r>
              <a:rPr dirty="0"/>
              <a:t>Using the fixed threshold of 0.6766, I built a confusion matrix to evaluate how well the model separates same-species pairs from different-species pairs.</a:t>
            </a:r>
          </a:p>
          <a:p>
            <a:pPr marL="285750" indent="-285750" algn="l">
              <a:spcBef>
                <a:spcPts val="1000"/>
              </a:spcBef>
              <a:buFont typeface="Arial" panose="020B0604020202020204" pitchFamily="34" charset="0"/>
              <a:buChar char="•"/>
            </a:pPr>
            <a:r>
              <a:rPr dirty="0"/>
              <a:t>The model correctly identified 5,881 different-species pairs and 6,922 same-species pairs.</a:t>
            </a:r>
          </a:p>
          <a:p>
            <a:pPr marL="285750" indent="-285750" algn="l">
              <a:spcBef>
                <a:spcPts val="1000"/>
              </a:spcBef>
              <a:buFont typeface="Arial" panose="020B0604020202020204" pitchFamily="34" charset="0"/>
              <a:buChar char="•"/>
            </a:pPr>
            <a:r>
              <a:rPr dirty="0"/>
              <a:t>However, it incorrectly classified 2,966 different-species pairs as same, and 1,925 same-species pairs as different.</a:t>
            </a:r>
          </a:p>
          <a:p>
            <a:pPr marL="285750" indent="-285750" algn="l">
              <a:spcBef>
                <a:spcPts val="1000"/>
              </a:spcBef>
              <a:buFont typeface="Arial" panose="020B0604020202020204" pitchFamily="34" charset="0"/>
              <a:buChar char="•"/>
            </a:pPr>
            <a:r>
              <a:rPr dirty="0"/>
              <a:t>This shows the model has a slightly higher recall for same-species pairs (0.78) compared with different-species pairs (0.66), meaning it leans towards over-matching rather than under-matching.</a:t>
            </a:r>
          </a:p>
        </p:txBody>
      </p:sp>
      <p:pic>
        <p:nvPicPr>
          <p:cNvPr id="4" name="Picture 3" descr="siamese_cm.png"/>
          <p:cNvPicPr>
            <a:picLocks noChangeAspect="1"/>
          </p:cNvPicPr>
          <p:nvPr/>
        </p:nvPicPr>
        <p:blipFill>
          <a:blip r:embed="rId2"/>
          <a:stretch>
            <a:fillRect/>
          </a:stretch>
        </p:blipFill>
        <p:spPr>
          <a:xfrm>
            <a:off x="7315200" y="1408967"/>
            <a:ext cx="4572000" cy="404006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11247120" cy="640080"/>
          </a:xfrm>
        </p:spPr>
        <p:txBody>
          <a:bodyPr wrap="square">
            <a:noAutofit/>
          </a:bodyPr>
          <a:lstStyle/>
          <a:p>
            <a:pPr algn="l"/>
            <a:r>
              <a:rPr b="1" dirty="0"/>
              <a:t>Live Demonstration</a:t>
            </a:r>
          </a:p>
        </p:txBody>
      </p:sp>
      <p:sp>
        <p:nvSpPr>
          <p:cNvPr id="3" name="Subtitle 2"/>
          <p:cNvSpPr>
            <a:spLocks noGrp="1"/>
          </p:cNvSpPr>
          <p:nvPr>
            <p:ph type="subTitle" idx="1"/>
          </p:nvPr>
        </p:nvSpPr>
        <p:spPr>
          <a:xfrm>
            <a:off x="270387" y="960120"/>
            <a:ext cx="5392994" cy="5669280"/>
          </a:xfrm>
        </p:spPr>
        <p:txBody>
          <a:bodyPr wrap="square">
            <a:noAutofit/>
          </a:bodyPr>
          <a:lstStyle/>
          <a:p>
            <a:pPr marL="342900" indent="-342900" algn="l">
              <a:buFont typeface="Arial" panose="020B0604020202020204" pitchFamily="34" charset="0"/>
              <a:buChar char="•"/>
            </a:pPr>
            <a:r>
              <a:rPr sz="1800" dirty="0"/>
              <a:t>To demonstrate the trained models in a practical way, I built a Flask-based API connected to a browser interface, allowing real-time species prediction.</a:t>
            </a:r>
          </a:p>
          <a:p>
            <a:pPr marL="342900" indent="-342900" algn="l">
              <a:spcBef>
                <a:spcPts val="1000"/>
              </a:spcBef>
              <a:buFont typeface="Arial" panose="020B0604020202020204" pitchFamily="34" charset="0"/>
              <a:buChar char="•"/>
            </a:pPr>
            <a:r>
              <a:rPr sz="1800" dirty="0"/>
              <a:t>When an image is uploaded, the depth map is generated live using Depth Anything V2, combined with the RGB image, and passed through the fusion model to return the top-3 predicted species with confidence scores.</a:t>
            </a:r>
          </a:p>
          <a:p>
            <a:pPr marL="342900" indent="-342900" algn="l">
              <a:spcBef>
                <a:spcPts val="1000"/>
              </a:spcBef>
              <a:buFont typeface="Arial" panose="020B0604020202020204" pitchFamily="34" charset="0"/>
              <a:buChar char="•"/>
            </a:pPr>
            <a:r>
              <a:rPr sz="1800" dirty="0"/>
              <a:t>I tested this live system using both real camera-trap images and images from the internet outside the dataset. A coyote image was correctly classified with 100% confidence, and a dog image was correctly classified with 97% confidence.</a:t>
            </a:r>
          </a:p>
          <a:p>
            <a:pPr marL="342900" indent="-342900" algn="l">
              <a:spcBef>
                <a:spcPts val="1000"/>
              </a:spcBef>
              <a:buFont typeface="Arial" panose="020B0604020202020204" pitchFamily="34" charset="0"/>
              <a:buChar char="•"/>
            </a:pPr>
            <a:r>
              <a:rPr sz="1800" dirty="0"/>
              <a:t>However, when I tested a fox image, the model incorrectly predicted dog with 91.5% confidence, and fox did not even appear in the top-3 predictions. This live result directly confirms the class-imbalance limitation I identified earlier in the evaluation</a:t>
            </a:r>
            <a:r>
              <a:rPr sz="2000" dirty="0"/>
              <a:t>.</a:t>
            </a:r>
          </a:p>
        </p:txBody>
      </p:sp>
      <p:pic>
        <p:nvPicPr>
          <p:cNvPr id="5" name="Picture 4">
            <a:extLst>
              <a:ext uri="{FF2B5EF4-FFF2-40B4-BE49-F238E27FC236}">
                <a16:creationId xmlns:a16="http://schemas.microsoft.com/office/drawing/2014/main" id="{FD4009E9-341B-0291-3D2D-A8E9E1FAEF09}"/>
              </a:ext>
            </a:extLst>
          </p:cNvPr>
          <p:cNvPicPr>
            <a:picLocks noChangeAspect="1"/>
          </p:cNvPicPr>
          <p:nvPr/>
        </p:nvPicPr>
        <p:blipFill>
          <a:blip r:embed="rId2"/>
          <a:stretch>
            <a:fillRect/>
          </a:stretch>
        </p:blipFill>
        <p:spPr>
          <a:xfrm>
            <a:off x="5663381" y="1031649"/>
            <a:ext cx="6528619" cy="54674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04477"/>
            <a:ext cx="12192000" cy="520000"/>
          </a:xfrm>
        </p:spPr>
        <p:txBody>
          <a:bodyPr wrap="square">
            <a:noAutofit/>
          </a:bodyPr>
          <a:lstStyle/>
          <a:p>
            <a:pPr algn="l"/>
            <a:r>
              <a:rPr lang="en-IN" b="1" dirty="0"/>
              <a:t>Live Demo — Switchable Model</a:t>
            </a:r>
          </a:p>
        </p:txBody>
      </p:sp>
      <p:sp>
        <p:nvSpPr>
          <p:cNvPr id="3" name="Subtitle 2"/>
          <p:cNvSpPr>
            <a:spLocks noGrp="1"/>
          </p:cNvSpPr>
          <p:nvPr>
            <p:ph type="subTitle" idx="1"/>
          </p:nvPr>
        </p:nvSpPr>
        <p:spPr>
          <a:xfrm>
            <a:off x="457200" y="824477"/>
            <a:ext cx="11277600" cy="1330000"/>
          </a:xfrm>
        </p:spPr>
        <p:txBody>
          <a:bodyPr wrap="square">
            <a:noAutofit/>
          </a:bodyPr>
          <a:lstStyle/>
          <a:p>
            <a:pPr algn="l"/>
            <a:r>
              <a:rPr lang="en-IN" sz="1800" b="1" dirty="0"/>
              <a:t>The interface also includes a model selector, so predictions can be generated live using either the RGB-only ResNet50 or the RGB + Depth Fusion model on the same uploaded image.</a:t>
            </a:r>
          </a:p>
          <a:p>
            <a:pPr algn="l"/>
            <a:r>
              <a:rPr lang="en-IN" sz="1800" dirty="0"/>
              <a:t>Both examples below were captured with the dropdown (top-left of each panel) set to RGB + Depth Fusion mode — the same control lets me switch models without restarting anything.</a:t>
            </a:r>
          </a:p>
        </p:txBody>
      </p:sp>
      <p:pic>
        <p:nvPicPr>
          <p:cNvPr id="4" name="Picture 3" descr="Two side-by-side screenshots of the live demo interface, each showing a MODEL dropdown for switching between RGB-only and RGB+Depth Fusion models: a bobcat example at 99.8% confidence and a dog example at 97.0% confidence."/>
          <p:cNvPicPr>
            <a:picLocks noChangeAspect="1"/>
          </p:cNvPicPr>
          <p:nvPr/>
        </p:nvPicPr>
        <p:blipFill>
          <a:blip r:embed="rId2"/>
          <a:stretch>
            <a:fillRect/>
          </a:stretch>
        </p:blipFill>
        <p:spPr>
          <a:xfrm>
            <a:off x="555860" y="2296309"/>
            <a:ext cx="10293700" cy="473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11247120" cy="640080"/>
          </a:xfrm>
        </p:spPr>
        <p:txBody>
          <a:bodyPr wrap="square">
            <a:noAutofit/>
          </a:bodyPr>
          <a:lstStyle/>
          <a:p>
            <a:pPr algn="l"/>
            <a:r>
              <a:rPr b="1" dirty="0"/>
              <a:t>Limitations</a:t>
            </a:r>
          </a:p>
        </p:txBody>
      </p:sp>
      <p:sp>
        <p:nvSpPr>
          <p:cNvPr id="3" name="Subtitle 2"/>
          <p:cNvSpPr>
            <a:spLocks noGrp="1"/>
          </p:cNvSpPr>
          <p:nvPr>
            <p:ph type="subTitle" idx="1"/>
          </p:nvPr>
        </p:nvSpPr>
        <p:spPr>
          <a:xfrm>
            <a:off x="457200" y="960120"/>
            <a:ext cx="11247120" cy="5669280"/>
          </a:xfrm>
        </p:spPr>
        <p:txBody>
          <a:bodyPr wrap="square">
            <a:noAutofit/>
          </a:bodyPr>
          <a:lstStyle/>
          <a:p>
            <a:pPr marL="342900" indent="-342900" algn="l">
              <a:buFont typeface="Arial" panose="020B0604020202020204" pitchFamily="34" charset="0"/>
              <a:buChar char="•"/>
            </a:pPr>
            <a:r>
              <a:rPr dirty="0"/>
              <a:t>While working on this project, I identified several limitations that are important to acknowledge.</a:t>
            </a:r>
          </a:p>
          <a:p>
            <a:pPr marL="342900" indent="-342900" algn="l">
              <a:spcBef>
                <a:spcPts val="1000"/>
              </a:spcBef>
              <a:buFont typeface="Arial" panose="020B0604020202020204" pitchFamily="34" charset="0"/>
              <a:buChar char="•"/>
            </a:pPr>
            <a:r>
              <a:rPr dirty="0"/>
              <a:t>The depth channel was </a:t>
            </a:r>
            <a:r>
              <a:rPr dirty="0" err="1"/>
              <a:t>normalised</a:t>
            </a:r>
            <a:r>
              <a:rPr dirty="0"/>
              <a:t> using general placeholder values rather than statistics calculated specifically for the depth data.</a:t>
            </a:r>
          </a:p>
          <a:p>
            <a:pPr marL="342900" indent="-342900" algn="l">
              <a:spcBef>
                <a:spcPts val="1000"/>
              </a:spcBef>
              <a:buFont typeface="Arial" panose="020B0604020202020204" pitchFamily="34" charset="0"/>
              <a:buChar char="•"/>
            </a:pPr>
            <a:r>
              <a:rPr dirty="0"/>
              <a:t>The fourth channel's weights were </a:t>
            </a:r>
            <a:r>
              <a:rPr dirty="0" err="1"/>
              <a:t>initialised</a:t>
            </a:r>
            <a:r>
              <a:rPr dirty="0"/>
              <a:t> using the original red-channel weights, which is a reasonable heuristic but not necessarily the optimal choice.</a:t>
            </a:r>
          </a:p>
          <a:p>
            <a:pPr marL="342900" indent="-342900" algn="l">
              <a:spcBef>
                <a:spcPts val="1000"/>
              </a:spcBef>
              <a:buFont typeface="Arial" panose="020B0604020202020204" pitchFamily="34" charset="0"/>
              <a:buChar char="•"/>
            </a:pPr>
            <a:r>
              <a:rPr dirty="0"/>
              <a:t>All three models were trained for only 5 epochs, which may not be enough time for the network to fully learn how to use the newly added depth information.</a:t>
            </a:r>
          </a:p>
          <a:p>
            <a:pPr marL="342900" indent="-342900" algn="l">
              <a:spcBef>
                <a:spcPts val="1000"/>
              </a:spcBef>
              <a:buFont typeface="Arial" panose="020B0604020202020204" pitchFamily="34" charset="0"/>
              <a:buChar char="•"/>
            </a:pPr>
            <a:r>
              <a:rPr dirty="0"/>
              <a:t>The depth maps were generated using Depth Anything V2 rather than a real depth sensor, so there is no ground-truth depth data available to directly validate their accuracy.</a:t>
            </a:r>
          </a:p>
          <a:p>
            <a:pPr marL="342900" indent="-342900" algn="l">
              <a:spcBef>
                <a:spcPts val="1000"/>
              </a:spcBef>
              <a:buFont typeface="Arial" panose="020B0604020202020204" pitchFamily="34" charset="0"/>
              <a:buChar char="•"/>
            </a:pPr>
            <a:r>
              <a:rPr dirty="0"/>
              <a:t>Finally, the Siamese/triplet model is a harder task than direct classification, and I also observed some overfitting, since the training loss dropped much further than the test-set verification performance.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7338B-AA05-CAEF-51D9-37165689B005}"/>
              </a:ext>
            </a:extLst>
          </p:cNvPr>
          <p:cNvSpPr>
            <a:spLocks noGrp="1"/>
          </p:cNvSpPr>
          <p:nvPr>
            <p:ph type="title"/>
          </p:nvPr>
        </p:nvSpPr>
        <p:spPr>
          <a:xfrm>
            <a:off x="0" y="-175649"/>
            <a:ext cx="10515600" cy="1325563"/>
          </a:xfrm>
        </p:spPr>
        <p:txBody>
          <a:bodyPr>
            <a:normAutofit/>
          </a:bodyPr>
          <a:lstStyle/>
          <a:p>
            <a:r>
              <a:rPr lang="en-IN" sz="6000" b="1" dirty="0"/>
              <a:t>Findings</a:t>
            </a:r>
          </a:p>
        </p:txBody>
      </p:sp>
      <p:sp>
        <p:nvSpPr>
          <p:cNvPr id="3" name="Content Placeholder 2">
            <a:extLst>
              <a:ext uri="{FF2B5EF4-FFF2-40B4-BE49-F238E27FC236}">
                <a16:creationId xmlns:a16="http://schemas.microsoft.com/office/drawing/2014/main" id="{C7F452CE-60F8-77C8-7A6A-8E1E1C55B463}"/>
              </a:ext>
            </a:extLst>
          </p:cNvPr>
          <p:cNvSpPr>
            <a:spLocks noGrp="1"/>
          </p:cNvSpPr>
          <p:nvPr>
            <p:ph idx="1"/>
          </p:nvPr>
        </p:nvSpPr>
        <p:spPr>
          <a:xfrm>
            <a:off x="0" y="1376516"/>
            <a:ext cx="12192000" cy="5574890"/>
          </a:xfrm>
        </p:spPr>
        <p:txBody>
          <a:bodyPr>
            <a:normAutofit/>
          </a:bodyPr>
          <a:lstStyle/>
          <a:p>
            <a:pPr lvl="0"/>
            <a:r>
              <a:rPr lang="en-IN" sz="2600" dirty="0"/>
              <a:t>The RGB-only ResNet50 achieved 94.05% accuracy, while the RGB + Depth Fusion model achieved 94.00%. </a:t>
            </a:r>
          </a:p>
          <a:p>
            <a:pPr lvl="0"/>
            <a:r>
              <a:rPr lang="en-IN" sz="2600" dirty="0"/>
              <a:t>Therefore before reaching any decision I found that, adding depth information did not improve the overall species classification accuracy. </a:t>
            </a:r>
          </a:p>
          <a:p>
            <a:pPr lvl="0"/>
            <a:r>
              <a:rPr lang="en-IN" sz="2600" dirty="0"/>
              <a:t>However, depth information improved classification performance for specific species, including bobcat, coyote, dog and rodent. </a:t>
            </a:r>
          </a:p>
          <a:p>
            <a:pPr lvl="0"/>
            <a:r>
              <a:rPr lang="en-IN" sz="2600" dirty="0"/>
              <a:t>This suggests that depth provides useful spatial and shape information for certain visually similar species.</a:t>
            </a:r>
          </a:p>
          <a:p>
            <a:pPr lvl="0"/>
            <a:r>
              <a:rPr lang="en-IN" sz="2600" dirty="0"/>
              <a:t>The Siamese Network achieved 78.14% relative accuracy, demonstrating meaningful species-level similarity learning. </a:t>
            </a:r>
          </a:p>
          <a:p>
            <a:pPr lvl="0"/>
            <a:r>
              <a:rPr lang="en-IN" sz="2600" dirty="0"/>
              <a:t>Overall, synthetic depth information provided useful additional information, but it was not sufficient to improve aggregate classification performance under the conditions of this study.</a:t>
            </a:r>
          </a:p>
          <a:p>
            <a:endParaRPr lang="en-IN" sz="2600" dirty="0"/>
          </a:p>
        </p:txBody>
      </p:sp>
    </p:spTree>
    <p:extLst>
      <p:ext uri="{BB962C8B-B14F-4D97-AF65-F5344CB8AC3E}">
        <p14:creationId xmlns:p14="http://schemas.microsoft.com/office/powerpoint/2010/main" val="1200539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2982-FA92-AA08-316C-61E2A4A2451C}"/>
              </a:ext>
            </a:extLst>
          </p:cNvPr>
          <p:cNvSpPr>
            <a:spLocks noGrp="1"/>
          </p:cNvSpPr>
          <p:nvPr>
            <p:ph type="title"/>
          </p:nvPr>
        </p:nvSpPr>
        <p:spPr/>
        <p:txBody>
          <a:bodyPr/>
          <a:lstStyle/>
          <a:p>
            <a:r>
              <a:rPr lang="en-IN" b="1" dirty="0"/>
              <a:t>Per class accuracy </a:t>
            </a:r>
          </a:p>
        </p:txBody>
      </p:sp>
      <p:pic>
        <p:nvPicPr>
          <p:cNvPr id="4" name="Picture 3">
            <a:extLst>
              <a:ext uri="{FF2B5EF4-FFF2-40B4-BE49-F238E27FC236}">
                <a16:creationId xmlns:a16="http://schemas.microsoft.com/office/drawing/2014/main" id="{8118197D-106D-9570-D4FD-493BD62C8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3986" y="127819"/>
            <a:ext cx="5978013" cy="6730181"/>
          </a:xfrm>
          <a:prstGeom prst="rect">
            <a:avLst/>
          </a:prstGeom>
        </p:spPr>
      </p:pic>
      <p:sp>
        <p:nvSpPr>
          <p:cNvPr id="6" name="TextBox 5">
            <a:extLst>
              <a:ext uri="{FF2B5EF4-FFF2-40B4-BE49-F238E27FC236}">
                <a16:creationId xmlns:a16="http://schemas.microsoft.com/office/drawing/2014/main" id="{9C2C151A-A610-1963-F654-EDD133F78D64}"/>
              </a:ext>
            </a:extLst>
          </p:cNvPr>
          <p:cNvSpPr txBox="1"/>
          <p:nvPr/>
        </p:nvSpPr>
        <p:spPr>
          <a:xfrm>
            <a:off x="88490" y="1415845"/>
            <a:ext cx="6007510" cy="5447645"/>
          </a:xfrm>
          <a:prstGeom prst="rect">
            <a:avLst/>
          </a:prstGeom>
          <a:noFill/>
        </p:spPr>
        <p:txBody>
          <a:bodyPr wrap="square" rtlCol="0">
            <a:spAutoFit/>
          </a:bodyPr>
          <a:lstStyle/>
          <a:p>
            <a:pPr marL="342900" indent="-342900">
              <a:buFont typeface="Arial" panose="020B0604020202020204" pitchFamily="34" charset="0"/>
              <a:buChar char="•"/>
            </a:pPr>
            <a:r>
              <a:rPr lang="en-IN" sz="2200" b="1" dirty="0"/>
              <a:t>“This table compares the F1-score of the RGB-only ResNet50 model with the RGB-plus-depth fusion model across the different categories.</a:t>
            </a:r>
          </a:p>
          <a:p>
            <a:endParaRPr lang="en-IN" sz="2200" b="1" dirty="0"/>
          </a:p>
          <a:p>
            <a:pPr marL="342900" indent="-342900">
              <a:buFont typeface="Arial" panose="020B0604020202020204" pitchFamily="34" charset="0"/>
              <a:buChar char="•"/>
            </a:pPr>
            <a:r>
              <a:rPr lang="en-IN" sz="2200" b="1" dirty="0"/>
              <a:t>Overall, the results are mixed.</a:t>
            </a:r>
            <a:r>
              <a:rPr lang="en-IN" sz="2200" dirty="0"/>
              <a:t> The fusion model improves performance in categories 6, 8, 9 and 99, with the largest improvement of </a:t>
            </a:r>
            <a:r>
              <a:rPr lang="en-IN" sz="2200" b="1" dirty="0"/>
              <a:t>0.04 in category 99</a:t>
            </a:r>
            <a:r>
              <a:rPr lang="en-IN" sz="2200" dirty="0"/>
              <a:t>. This suggests that depth information can provide useful additional spatial information for certain categories.</a:t>
            </a:r>
          </a:p>
          <a:p>
            <a:pPr marL="342900" indent="-342900">
              <a:buFont typeface="Arial" panose="020B0604020202020204" pitchFamily="34" charset="0"/>
              <a:buChar char="•"/>
            </a:pPr>
            <a:endParaRPr lang="en-IN" sz="2200" dirty="0"/>
          </a:p>
          <a:p>
            <a:pPr marL="342900" indent="-342900">
              <a:buFont typeface="Arial" panose="020B0604020202020204" pitchFamily="34" charset="0"/>
              <a:buChar char="•"/>
            </a:pPr>
            <a:r>
              <a:rPr lang="en-IN" sz="2200" dirty="0"/>
              <a:t>However, RGB-only performs better in several other categories, including 3, 5, 7, 10, 11, 16 and 34. There is also a tie in category 1, while both models fail completely on category 51.</a:t>
            </a:r>
          </a:p>
          <a:p>
            <a:endParaRPr lang="en-IN" b="1" dirty="0"/>
          </a:p>
        </p:txBody>
      </p:sp>
    </p:spTree>
    <p:extLst>
      <p:ext uri="{BB962C8B-B14F-4D97-AF65-F5344CB8AC3E}">
        <p14:creationId xmlns:p14="http://schemas.microsoft.com/office/powerpoint/2010/main" val="2862533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B8215-34D2-A9AC-FABD-DC3396673ED1}"/>
              </a:ext>
            </a:extLst>
          </p:cNvPr>
          <p:cNvSpPr>
            <a:spLocks noGrp="1"/>
          </p:cNvSpPr>
          <p:nvPr>
            <p:ph type="title"/>
          </p:nvPr>
        </p:nvSpPr>
        <p:spPr/>
        <p:txBody>
          <a:bodyPr/>
          <a:lstStyle/>
          <a:p>
            <a:r>
              <a:rPr lang="en-IN" b="1" dirty="0"/>
              <a:t>Future Planning Work</a:t>
            </a:r>
          </a:p>
        </p:txBody>
      </p:sp>
      <p:sp>
        <p:nvSpPr>
          <p:cNvPr id="3" name="Content Placeholder 2">
            <a:extLst>
              <a:ext uri="{FF2B5EF4-FFF2-40B4-BE49-F238E27FC236}">
                <a16:creationId xmlns:a16="http://schemas.microsoft.com/office/drawing/2014/main" id="{7B6F58AA-A395-2F0D-2266-0A3623963D89}"/>
              </a:ext>
            </a:extLst>
          </p:cNvPr>
          <p:cNvSpPr>
            <a:spLocks noGrp="1"/>
          </p:cNvSpPr>
          <p:nvPr>
            <p:ph idx="1"/>
          </p:nvPr>
        </p:nvSpPr>
        <p:spPr/>
        <p:txBody>
          <a:bodyPr>
            <a:normAutofit fontScale="85000" lnSpcReduction="20000"/>
          </a:bodyPr>
          <a:lstStyle/>
          <a:p>
            <a:pPr lvl="0"/>
            <a:r>
              <a:rPr lang="en-IN" dirty="0"/>
              <a:t>Model training can be further improved and fine-tuned using better-prepared input data. </a:t>
            </a:r>
          </a:p>
          <a:p>
            <a:pPr lvl="0"/>
            <a:r>
              <a:rPr lang="en-IN" dirty="0"/>
              <a:t>Class-weighted loss and data augmentation could improve performance for underrepresented species. </a:t>
            </a:r>
          </a:p>
          <a:p>
            <a:pPr lvl="0"/>
            <a:r>
              <a:rPr lang="en-IN" dirty="0"/>
              <a:t>Depth-specific normalisation could help the fusion model learn and utilise depth information more effectively. </a:t>
            </a:r>
          </a:p>
          <a:p>
            <a:pPr lvl="0"/>
            <a:r>
              <a:rPr lang="en-IN" dirty="0"/>
              <a:t>For the Siamese model, hard-negative mining and longer training could improve species-similarity prediction. </a:t>
            </a:r>
          </a:p>
          <a:p>
            <a:pPr lvl="0"/>
            <a:r>
              <a:rPr lang="en-IN" dirty="0"/>
              <a:t>An alternative to the four-channel RGB-D approach, such as a two-branch RGB and Depth architecture, could be explored for improved performance. </a:t>
            </a:r>
          </a:p>
          <a:p>
            <a:pPr lvl="0"/>
            <a:r>
              <a:rPr lang="en-IN" dirty="0"/>
              <a:t>Finally, the same model architecture could be tested on a dataset containing real depth-sensor data, with the aim of investigating individual animal re-identification, which was the original proposed application of the dataset.</a:t>
            </a:r>
          </a:p>
          <a:p>
            <a:endParaRPr lang="en-IN" dirty="0"/>
          </a:p>
        </p:txBody>
      </p:sp>
    </p:spTree>
    <p:extLst>
      <p:ext uri="{BB962C8B-B14F-4D97-AF65-F5344CB8AC3E}">
        <p14:creationId xmlns:p14="http://schemas.microsoft.com/office/powerpoint/2010/main" val="2722831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11247120" cy="640080"/>
          </a:xfrm>
        </p:spPr>
        <p:txBody>
          <a:bodyPr wrap="square">
            <a:noAutofit/>
          </a:bodyPr>
          <a:lstStyle/>
          <a:p>
            <a:pPr algn="l"/>
            <a:r>
              <a:rPr b="1" dirty="0"/>
              <a:t>Conclusion</a:t>
            </a:r>
          </a:p>
        </p:txBody>
      </p:sp>
      <p:sp>
        <p:nvSpPr>
          <p:cNvPr id="3" name="Subtitle 2"/>
          <p:cNvSpPr>
            <a:spLocks noGrp="1"/>
          </p:cNvSpPr>
          <p:nvPr>
            <p:ph type="subTitle" idx="1"/>
          </p:nvPr>
        </p:nvSpPr>
        <p:spPr>
          <a:xfrm>
            <a:off x="457200" y="960120"/>
            <a:ext cx="11247120" cy="5669280"/>
          </a:xfrm>
        </p:spPr>
        <p:txBody>
          <a:bodyPr wrap="square">
            <a:noAutofit/>
          </a:bodyPr>
          <a:lstStyle/>
          <a:p>
            <a:pPr marL="342900" lvl="0" indent="-342900" algn="l">
              <a:buFont typeface="Arial" panose="020B0604020202020204" pitchFamily="34" charset="0"/>
              <a:buChar char="•"/>
            </a:pPr>
            <a:r>
              <a:rPr lang="en-IN" dirty="0"/>
              <a:t>After this research, I concluded that adding depth or spatial information provides benefits for only certain species, as discussed throughout my research. </a:t>
            </a:r>
          </a:p>
          <a:p>
            <a:pPr marL="342900" lvl="0" indent="-342900" algn="l">
              <a:buFont typeface="Arial" panose="020B0604020202020204" pitchFamily="34" charset="0"/>
              <a:buChar char="•"/>
            </a:pPr>
            <a:r>
              <a:rPr lang="en-IN" dirty="0"/>
              <a:t>Therefore, it is difficult to give a simple “yes” or “no” answer to my research question: “Does adding depth information improve overall animal species classification?” </a:t>
            </a:r>
          </a:p>
          <a:p>
            <a:pPr marL="342900" lvl="0" indent="-342900" algn="l">
              <a:buFont typeface="Arial" panose="020B0604020202020204" pitchFamily="34" charset="0"/>
              <a:buChar char="•"/>
            </a:pPr>
            <a:r>
              <a:rPr lang="en-IN" dirty="0"/>
              <a:t>The overall accuracy remained almost unchanged between the RGB-only and RGB + Depth approaches, although some individual species showed improvements with depth information. </a:t>
            </a:r>
          </a:p>
          <a:p>
            <a:pPr marL="342900" lvl="0" indent="-342900" algn="l">
              <a:buFont typeface="Arial" panose="020B0604020202020204" pitchFamily="34" charset="0"/>
              <a:buChar char="•"/>
            </a:pPr>
            <a:r>
              <a:rPr lang="en-IN" dirty="0"/>
              <a:t>This suggests that the usefulness of depth information may depend on the characteristics of the species and the visual information available in the images. </a:t>
            </a:r>
          </a:p>
          <a:p>
            <a:pPr marL="342900" lvl="0" indent="-342900" algn="l">
              <a:buFont typeface="Arial" panose="020B0604020202020204" pitchFamily="34" charset="0"/>
              <a:buChar char="•"/>
            </a:pPr>
            <a:r>
              <a:rPr lang="en-IN" dirty="0"/>
              <a:t>Based on the findings and experience gained from this research, I plan to investigate alternative methodologies that could make better use of depth information and help address this research gap.</a:t>
            </a:r>
          </a:p>
          <a:p>
            <a:pPr marL="342900" lvl="0" indent="-342900" algn="l">
              <a:buFont typeface="Arial" panose="020B0604020202020204" pitchFamily="34" charset="0"/>
              <a:buChar char="•"/>
            </a:pPr>
            <a:r>
              <a:rPr lang="en-IN" b="1" dirty="0"/>
              <a:t>“Ultimately, this research shows that depth information is not universally beneficial, but it contains additional information that could be valuable when used with a more suitable methodology.”</a:t>
            </a:r>
          </a:p>
          <a:p>
            <a:pPr marL="342900" indent="-342900" algn="l">
              <a:buFont typeface="Arial" panose="020B0604020202020204" pitchFamily="34" charset="0"/>
              <a:buChar char="•"/>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2083</TotalTime>
  <Words>3273</Words>
  <Application>Microsoft Office PowerPoint</Application>
  <PresentationFormat>Widescreen</PresentationFormat>
  <Paragraphs>180</Paragraphs>
  <Slides>29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Arial</vt:lpstr>
      <vt:lpstr>Calibri</vt:lpstr>
      <vt:lpstr>Calibri Light</vt:lpstr>
      <vt:lpstr>Office Theme</vt:lpstr>
      <vt:lpstr>Custom Design</vt:lpstr>
      <vt:lpstr>Wildlife species classification </vt:lpstr>
      <vt:lpstr>Introduction </vt:lpstr>
      <vt:lpstr>Camera- traps </vt:lpstr>
      <vt:lpstr>Core Aim </vt:lpstr>
      <vt:lpstr>PowerPoint Presentation</vt:lpstr>
      <vt:lpstr>PowerPoint Presentation</vt:lpstr>
      <vt:lpstr>Dataset Exploring</vt:lpstr>
      <vt:lpstr>Pre-processing</vt:lpstr>
      <vt:lpstr>Pre-processing — Dataset Preparation</vt:lpstr>
      <vt:lpstr>Depth Map Generation</vt:lpstr>
      <vt:lpstr>Train/Test Split</vt:lpstr>
      <vt:lpstr>Model Development</vt:lpstr>
      <vt:lpstr>          Model Architecture (UML)</vt:lpstr>
      <vt:lpstr>Model 1: ResNet50 (RGB-only)</vt:lpstr>
      <vt:lpstr>ResNet50 Results</vt:lpstr>
      <vt:lpstr>Model 2: RGB + Depth Fusion</vt:lpstr>
      <vt:lpstr>Fusion Model Results</vt:lpstr>
      <vt:lpstr>RGB vs Fusion: The Real Finding</vt:lpstr>
      <vt:lpstr>PowerPoint Presentation</vt:lpstr>
      <vt:lpstr>Model 3: Siamese Verification Network</vt:lpstr>
      <vt:lpstr>Siamese Network Results</vt:lpstr>
      <vt:lpstr>Siamese Verification — Confusion Matrix</vt:lpstr>
      <vt:lpstr>Live Demonstration</vt:lpstr>
      <vt:lpstr>Live Demo — Switchable Model</vt:lpstr>
      <vt:lpstr>Limitations</vt:lpstr>
      <vt:lpstr>Findings</vt:lpstr>
      <vt:lpstr>Per class accuracy </vt:lpstr>
      <vt:lpstr>Future Planning Work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Trivedi Harit</dc:creator>
  <cp:lastModifiedBy>Trivedi Harit</cp:lastModifiedBy>
  <cp:revision>62</cp:revision>
  <dcterms:created xsi:type="dcterms:W3CDTF">2026-08-24T13:33:51Z</dcterms:created>
  <dcterms:modified xsi:type="dcterms:W3CDTF">2026-09-07T01:12:01Z</dcterms:modified>
</cp:coreProperties>
</file>